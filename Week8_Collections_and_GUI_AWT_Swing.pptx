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31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024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WEEK 8  ·  CONDENSED EDITION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Framework &amp;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Basics (AWT &amp; Swing)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That Scale &amp; Building Your First Desktop UI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715414" cy="310896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17154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&amp; LinkedList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2654" y="3063240"/>
            <a:ext cx="1358798" cy="310896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2654" y="3063240"/>
            <a:ext cx="13587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 &amp; TreeSet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88613" y="3063240"/>
            <a:ext cx="1358798" cy="310896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88613" y="3063240"/>
            <a:ext cx="13587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&amp; TreeMap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4571" y="3063240"/>
            <a:ext cx="1501445" cy="310896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4571" y="3063240"/>
            <a:ext cx="15014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&amp; for-each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23176" y="3063240"/>
            <a:ext cx="1430122" cy="310896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3176" y="3063240"/>
            <a:ext cx="14301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Collections.sort()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447288"/>
            <a:ext cx="1144829" cy="310896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47288"/>
            <a:ext cx="11448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AWT components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2069" y="3447288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2069" y="3447288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 · JButton · JLabel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88613" y="3447288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8613" y="344728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5309" y="3447288"/>
            <a:ext cx="1144829" cy="310896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5309" y="3447288"/>
            <a:ext cx="11448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12700">
            <a:solidFill>
              <a:srgbClr val="3C54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159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 Singh Yadav  ·  Dept. of Computer Engineering &amp; Applications, GLA University, Mathura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46085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/ B.Tech — Object-Oriented Programming with Java   ·   prajnixlabs.in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COLLECTIONS FRAMEWORK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45920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ArrayList &amp; LinkedList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76272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HashSet &amp; TreeSet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706624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HashMap &amp; TreeMap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36976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236976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Iterator &amp; Enhanced for-each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6732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767328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Collections.sort()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GUI BASICS (AWT &amp; SWING)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645920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AWT Components Overview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76272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176272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Swing — JFrame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706624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706624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JButton, JLabel &amp; JTextField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236976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236976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Event Handling (ActionListener)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767328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767328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Combined Mini App &amp; Wrap-Up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quick-fire questions, MCQ practice &amp; key takeaways to wrap up.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COLLECTIONS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Collections Framework?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17320"/>
            <a:ext cx="7790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Java Collections Framework (java.util) is a unified architecture of interfaces and classes for storing and manipulating groups of objects — ready-made lists, sets, maps and algorithms.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array management with dynamic, ready-tested structures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API: add(), remove(), contains(), size() across all types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(List, Set, Map) define contracts; classes provide implementations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fixed-size; collections grow and shrink on demand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structure is optimised for a different access pattern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most-used package in real-world Java after java.lang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D92FA3-A021-19A6-1EC1-A04ABB847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96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COLLECTIONS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vs Set vs Map — At a Glance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18211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unique; values may repeat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order, indexed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implementation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implementation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— get(i)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via iteration / contains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— get(key)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ArrayList, LinkedList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HashSet, TreeSet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HashMap, TreeMap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sequences, playlists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tags, IDs, membership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Dictionaries, caches, lookups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OF 10  ·  COLLECTIONS &amp; GUI BASICS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&amp; LINKEDLIST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ArrayList &amp; LinkedList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implement List — ordered, indexed, duplicates allowed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= resizable array; LinkedList = doubly-linked node chain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based on your dominant operation: random access vs insertion/removal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60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ARRAYLIST &amp; LINKEDLIST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ArrayList — Resizable Array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java.util.ArrayList;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9201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9201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7293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7293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cities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5385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5385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cities.add(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"Mathura"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append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477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3477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cities.add(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"Agra"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81569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81569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cities.add(1, 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"Delhi"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at index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9661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9661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177540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177540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System.out.println(cities.get(0));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Mathura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35846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5846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System.out.println(cities.size());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3938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53938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72030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72030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cities.remove(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"Agra"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90122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122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cities.set(0, 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"Vrindavan"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replace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08214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08214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System.out.println(cities);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26306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26306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[Vrindavan, Delhi]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dynamic array — grows ~50% when full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get(i) is O(1) — instant random access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in the middle is O(n) — elements shift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List choice in most real code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ARRAYLIST &amp; LINKEDLIST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LinkedList — Doubly-Linked Chain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java.util.LinkedList;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9201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9201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7293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7293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LinkedList&lt;Integer&gt; queue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LinkedList&lt;&gt;();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5385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5385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queue.add(10);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477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3477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queue.add(20);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81569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81569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queue.addFirst(5);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O(1) head insert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9661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9661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queue.addLast(30);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O(1) tail insert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177540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177540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35846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5846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System.out.println(queue);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3938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53938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[5, 10, 20, 30]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72030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72030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90122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122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queue.removeFirst();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gone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08214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08214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queue.removeLast();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gone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26306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26306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System.out.println(queue.peek());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holds data + prev/next references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addFirst/addLast/removeFirst are O(1)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get(i) is O(n) — must walk the chain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implements Deque — usable as queue or stack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ARRAYLIST &amp; LINKEDLIST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ArrayList vs LinkedList —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2918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get(index)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— direct array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walks node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at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add/remove at start or middle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shifts elements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at ends; O(n) to find middle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per element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— just the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value + 2 node pointers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Read-heavy, random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head/tail insert-remove, queues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ARRAYLIST &amp; LINKEDLIST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Lists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with the interface type: List&lt;String&gt; l = new ArrayList&lt;&gt;()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ArrayList — it wins in practice for most workloads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ArrayList an initial capacity if you know the size: new ArrayList&lt;&gt;(1000)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call get(i) in a loop on a LinkedList — that's O(n²) traversal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raw types (List l = ...) — always parameterise with generics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remove elements inside a plain for-each loop — ConcurrentModificationException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Lists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ArrayList's add() called "amortized O(1)"?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are O(1) until the internal array fills; then a one-time O(n) resize-and-copy occurs. Averaged over many adds, the cost per add remains constant.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LinkedList genuinely beat ArrayList?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repeatedly add/remove at the head or tail (queue/deque usage) and rarely access by index. For everything else, ArrayList's cache-friendly array wins.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size and capacity?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 is the number of elements actually stored; capacity is the length of ArrayList's internal array. Capacity grows automatically and is invisible to the API.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ArrayList thread-safe?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neither is LinkedList. Use Collections.synchronizedList() or CopyOnWriteArrayList for multi-threaded access.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OF 10  ·  COLLECTIONS &amp; GUI BASICS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 &amp; TREESET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HashSet &amp; TreeSet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implement Set — duplicates are silently rejected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 = hash table, unordered, fastest; TreeSet = red-black tree, always sorted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returns false when the element already exists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HASHSET &amp; TREESET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HashSet — Fast, Unordered, Unique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java.util.HashSet;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9201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9201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7293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7293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HashSet&lt;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tags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HashSet&lt;&gt;();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5385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5385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tags.add(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477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3477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tags.add(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"oop"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81569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81569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= tags.add(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false!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9661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9661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177540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177540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System.out.println(ok);      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35846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5846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System.out.println(tags.size());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3938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53938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72030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72030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System.out.println(tags.contains(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"oop"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90122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122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— O(1) membership test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08214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08214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26306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26306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System.out.println(tags);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order not guaranteed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hash table (internally a HashMap)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/ contains — all O(1) average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ordering guarantee whatsoever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hashCode() + equals() to detect duplicates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one null element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HASHSET &amp; TREESET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TreeSet — Always Sorted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java.util.TreeSet;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9201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9201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7293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7293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TreeSet&lt;Integer&gt; marks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TreeSet&lt;&gt;();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5385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5385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marks.add(72);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477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3477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marks.add(45);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81569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81569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marks.add(91);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9661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9661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marks.add(45);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duplicate ignored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177540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177540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35846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5846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System.out.println(marks);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3938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53938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[45, 72, 91] — sorted automatically!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72030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72030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90122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122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System.out.println(marks.first());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08214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08214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System.out.println(marks.last());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26306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26306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System.out.println(marks.headSet(72));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[45]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self-balancing Red-Black tree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/ contains — O(log n)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in natural sorted order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navigation: first(), last(), headSet(), tailSet()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must be Comparable (or supply a Comparator)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HASHSET &amp; TREESET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HashSet vs TreeSet —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3284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Red-Black (self-balancing)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guaranteed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sorted order (or Comparator)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/ contains / remove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elements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null 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 (throws NullPointerException)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on elements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hashCode() &amp; equals()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Comparable, or Comparator supplied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matters, order doesn't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sorted iteration or range queries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Sets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HashSet detect duplicates?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computes hashCode() to find the bucket, then uses equals() to compare within that bucket. Both methods must be consistently overridden on your class, or duplicates will slip 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TreeSet hold null?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insertion compares the new element against existing ones via compareTo()/Comparator. Comparing against null throws NullPointerException, so null is rejected.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LinkedHashSet and where does it fit?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HashSet that additionally maintains insertion order via a linked list through its entries. Speed close to HashSet, with predictable iteration order.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equals() is overridden but hashCode() is not?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"equal" objects can land in different hash buckets, so HashSet stores both — a silent duplicate bug. The contract: equal objects MUST have equal hash codes.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OF 10  ·  COLLECTIONS &amp; GUI BASICS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&amp; TREEMAP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 &amp; TreeMap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stores key→value pairs — keys are unique, values may repeat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= hash table, unordered, O(1); TreeMap = sorted by key, O(log n)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put() with an existing key silently replaces the old value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HASHMAP &amp; TREEMAP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 — Key→Value Lookups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java.util.HashMap;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9201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9201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7293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7293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HashMap&lt;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Integer&gt; marks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HashMap&lt;&gt;();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5385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5385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marks.put(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"Amit"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85);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477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3477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marks.put(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92);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81569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81569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marks.put(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"Amit"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88);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replaces 85!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9661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9661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177540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177540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System.out.println(marks.get(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"Amit"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35846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5846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System.out.println(marks.containsKey(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3938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53938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72030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72030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90122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122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marks.getOrDefault(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"Ravi"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0);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— safe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08214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08214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marks.remove(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26306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26306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System.out.println(marks.keySet());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[Amit]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 get / remove — O(1) average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key ⇒ value REPLACED, size unchanged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null key + many null values allowed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keySet(), values(), entrySet()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ordering guarantee at all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HASHMAP &amp; TREEMAP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TreeMap — Sorted by Key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java.util.TreeMap;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9201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9201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7293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7293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TreeMap&lt;Integer,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ranks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TreeMap&lt;&gt;();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5385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5385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ranks.put(3, 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"Bronze"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477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3477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ranks.put(1, 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"Gold"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81569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81569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ranks.put(2, 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"Silver"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9661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9661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177540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177540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System.out.println(ranks);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35846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5846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{1=Gold, 2=Silver, 3=Bronze} — key-sorted!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3938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53938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72030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72030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System.out.println(ranks.firstKey());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90122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122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System.out.println(ranks.lastEntry());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3=Bronze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08214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08214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System.out.println(ranks.headMap(3));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26306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26306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{1=Gold, 2=Silver}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Red-Black tree keyed on the KEY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 get / remove — O(log n)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keys in sorted order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firstKey(), lastEntry(), headMap(), tailMap()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keys NOT allowed (values can be null)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HASHMAP &amp; TREEMAP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 vs TreeMap —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3284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 (buckets + bins)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Red-Black tree keyed on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ordering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— natural or Comparator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 get / remove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keys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abilities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views: headMap, tailMap, subMap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fast lookup / cache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reports, range queries, ceilings/floors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HASHMAP &amp; TREEMAP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Maps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getOrDefault() or containsKey() to avoid surprise nulls from get()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with entrySet() when you need both key and value — one pass, not two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hashCode() and equals() correctly on any custom key class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a mutable object as a key — changing it after put() loses the entry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HashMap iteration order — it can even change between runs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call get() twice (containsKey + get) when getOrDefault() does it in one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Maps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a hash collision in HashMap?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Colliding entries chain in the same bucket as a linked list; since Java 8, a bucket with 8+ entries converts to a red-black tree, keeping worst-case lookup at O(log n).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keys be immutable (or effectively so)?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is chosen from the key's hashCode at put() time. Mutating the key later changes its hash, so get() looks in the wrong bucket — the entry becomes unreachable.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HashMap and Hashtable?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Hashtable is legacy: synchronized on every method and forbids nulls. HashMap is unsynchronized and faster; for thread safety today use ConcurrentHashMap instead.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iterate a Map cleanly?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(Map.Entry&lt;K,V&gt; e : map.entrySet()) { e.getKey(); e.getValue(); } — a single traversal. Java 8+: map.forEach((k, v) -&gt; ...).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OF 10  ·  COLLECTIONS &amp; GUI BASICS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&amp; ENHANCED FOR-EACH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 &amp; Enhanced for-each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standard ways to traverse any collection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is concise for reading; Iterator allows safe removal while traversing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collection inside for-each throws ConcurrentModificationException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ITERATOR &amp; FOR-EACH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Iterator Interface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java.util.*;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9201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9201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7293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7293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nums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5385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5385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List.of(10, 15, 20, 25, 30));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477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3477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81569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81569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Iterator&lt;Integer&gt; it = nums.iterator();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9661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9661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(it.hasNext()) {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177540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177540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 it.next();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35846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5846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 % 2 != 0) {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3938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53938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it.remove();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removal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72030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72030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90122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122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08214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08214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System.out.println(nums);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26306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26306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[10, 20, 30]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METHODS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hasNext() — more elements remaining?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 — return next element &amp; advance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 — delete the element last returned by next()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it.remove() is the ONLY safe way to delete during traversal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ITERATOR &amp; FOR-EACH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for-each &amp; the CME Trap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names =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9201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9201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ArrayList&lt;&gt;(List.of(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"Amit"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"Ravi"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7293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7293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5385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5385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Clean read-only traversal: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477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3477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: names) 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81569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81569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System.out.println(n);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9661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9661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177540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177540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35846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5846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TRAP — modifying inside for-each: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3938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53938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: names) {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72030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72030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(n.equals(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"Ravi"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90122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122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names.remove(n);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BOOM at runtime!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08214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08214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26306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26306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ConcurrentModificationException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TRAP FIRES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compiles to a hidden Iterator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remove() bypasses that iterator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iterator's modCount check fails → CME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Iterator.remove(), or removeIf(), or collect items to delete afterwards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ITERATOR &amp; FOR-EACH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Traversal Style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12724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(int i = 0; i &lt; list.size(); i++)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the index itself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for-each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(T x : collection)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traversal — the default 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(it.hasNext()) { it.next(); 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remove elements mid-traversal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removeIf (Java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list.removeIf(n -&gt; n &lt; 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bulk delete — cleanest 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forEach + lambda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list.forEach(System.out::println)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actions per element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Iteration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causes ConcurrentModificationException?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collection tracks a modCount. Structural changes made outside the iterator bump it; on the next it.next() call the iterator sees the mismatch and fails fast.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CME only a multi-threading problem?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fires even in a single thread, whenever the collection is modified directly during iterator/for-each traversal. The name is misleading.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collections can for-each traverse?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implementing Iterable (all Collections) plus plain arrays. Maps aren't Iterable directly — you loop over entrySet(), keySet(), or values().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ListIterator?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extended Iterator only for Lists: it can traverse backwards (hasPrevious/previous), and can set() or add() elements during traversal — not just remove.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OF 10  ·  COLLECTIONS &amp; GUI BASICS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COLLECTIONS.SORT()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Collections.sort()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a List in place — ascending natural order by default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order comes from Comparable.compareTo(); custom order from a Comparator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Comparator.comparing() makes multi-field sorting one-liners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COLLECTIONS.SORT()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by Natural Order (Comparable)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NaturalSort.java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java.util.*;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07995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07995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24881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24881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nums =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41767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41767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ArrayList&lt;&gt;(List.of(42, 7, 19, 3));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586533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586533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Collections.sort(nums);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2755392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755392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System.out.println(nums);  </a:t>
            </a: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[3, 7, 19, 42]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924251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924251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309311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09311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 class must implement Comparable: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326197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26197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Comparable&lt;Student&gt; {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3430829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430829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name;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gpa;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3599688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599688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compareTo(Student other) {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3768547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3768547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Double.compare(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.gpa, other.gpa);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" y="393740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393740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" y="410626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410626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427512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" y="427512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Collections.sort(students);  </a:t>
            </a: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by GPA ascending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the list IN PLACE — returns void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must implement Comparable&lt;T&gt;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compareTo(): negative = before, 0 = equal, positive = after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Integer, Double etc. are already Comparable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Reverse: Collections.sort(list, Collections.reverseOrder())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COLLECTIONS.SORT()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Order with Comparator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ComparatorSort.java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Anonymous class (classic style):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069402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069402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Collections.sort(students,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Comparator&lt;Student&gt;() {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22770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227707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compare(Student a, Student b) {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386013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386013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a.name.compareTo(b.name);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544318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544318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2702624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702624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860929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860929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3019235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019235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Lambda (Java 8):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3177540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177540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Collections.sort(students,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3335846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335846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(a, b) -&gt; a.name.compareTo(b.name));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3494151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494151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365245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3652457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Comparator.comparing — cleanest: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" y="3810762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3810762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students.sort(Comparator.comparing(s -&gt; s.name));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" y="396906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3969067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students.sort(Comparator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4127373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" y="4127373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.comparing((Student s) -&gt; s.gpa).reversed()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" y="4285679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0120" y="4285679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.thenComparing(s -&gt; s.name));  </a:t>
            </a: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tie-break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POWER-UPS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WITHOUT touching the class itself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different orders for the same type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reversed() flips any comparator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thenComparing() chains tie-breakers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list.sort(cmp) — same thing, member style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COLLECTIONS.SORT()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Comparable vs Comparator — At a Glance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32841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java.lang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java.util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compareTo(T other)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compare(T a, T 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defined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the class itself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class / lambda outside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per 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(the "natural" order)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custom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Modifies the class?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class must implement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works on closed/third-party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Collections.sort(list)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Collections.sort(list, cmp) or list.sort(cmp)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COLLECTIONS.SORT()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Sorting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Comparator.comparing(...) with method references for readable one-line sorts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Integer.compare(a, b) / Double.compare(a, b) instead of subtraction in compareTo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thenComparing() for deterministic tie-breaking on equal primary keys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return a - b in compareTo for ints — it silently overflows on large values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make compareTo inconsistent with equals() — TreeSet/TreeMap will misbehave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sort a list that contains null elements — NullPointerException at compare time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DESKTOP USER INTERFACES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Basics — AWT &amp; Swing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Buttons, Text Fields &amp; Responding to Clicks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746150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7461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java.awt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32534" y="3017520"/>
            <a:ext cx="971093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2534" y="3017520"/>
            <a:ext cx="9710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javax.swing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49931" y="3017520"/>
            <a:ext cx="596189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9931" y="3017520"/>
            <a:ext cx="596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92424" y="3017520"/>
            <a:ext cx="671170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3017520"/>
            <a:ext cx="6711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9898" y="3017520"/>
            <a:ext cx="596189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9898" y="3017520"/>
            <a:ext cx="596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52390" y="301752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2390" y="301752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94806" y="3017520"/>
            <a:ext cx="1196035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94806" y="3017520"/>
            <a:ext cx="11960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37146" y="3017520"/>
            <a:ext cx="1345997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37146" y="3017520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GUI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Console to Windows — AWT &amp; Swing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17320"/>
            <a:ext cx="7790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 (Graphical User Interface) lets users interact through windows, buttons, and text fields instead of a console. Java ships two toolkits: AWT (java.awt, 1995) and Swing (javax.swing, 1998) built on top of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AWT — heavyweight: each component maps to a native OS widget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— lightweight: components are drawn in pure Java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extends AWT — it reuses AWT's layout &amp; event systems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AWT classes: Button, Label, TextField, Frame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classes: JButton, JLabel, JTextField, JFrame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the J prefix = Swing = what you should use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GUI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AWT vs Swing —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32841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java.awt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javax.swing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Heavyweight — native OS peers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— drawn in Java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&amp; feel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Follows the OS, differs per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everywhere; pluggable L&amp;F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(Button, Label, TextField)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(JTable, JTree, JTabbedPane...)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faster (native)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heavier, far more flexible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layer (events, layouts)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standard for Java desktop GUIs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OF 10  ·  COLLECTIONS &amp; GUI BASICS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AWT COMPONENTS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AWT Components Overview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AWT provides the foundational component classes &amp; containment model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visual extends Component; containers hold other components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AWT's model makes Swing instantly familiar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· AWT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AWT Components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3649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Swing Equivalent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Top-level window with title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Invisible grouping container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JPanel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line of display-only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Clickable push button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JButton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Single-line text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JTextField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Multi-line text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JTextArea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 / 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Toggles and dropdown 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JCheckBox / JComboBox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· AWT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AWT in Action — Minimal Window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AwtDemo.java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java.awt.*;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69402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69402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2770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27707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AwtDemo 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386013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386013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a) {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544318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544318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 f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"AWT Window"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702624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702624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f.setLayout(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FlowLayout());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860929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860929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019235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019235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Label lbl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Label(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"Name:"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177540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177540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TextField tf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TextField(15);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335846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335846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 btn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Button(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494151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494151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65245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652457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f.add(lbl); f.add(tf); f.add(btn);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810762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3810762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f.setSize(320, 160);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3969067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3969067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f.setVisible(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4127373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4127373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" y="4285679"/>
            <a:ext cx="29260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0120" y="4285679"/>
            <a:ext cx="44531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CONTAINMENT MODEL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(Frame) holds Components via add()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LayoutManager positions children automatically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setSize() + setVisible(true) shows the window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AWT Frame has no default close behavior — Swing's JFrame fixes this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07 OF 10  ·  COLLECTIONS &amp; GUI BASICS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— JFRAME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Swing: JFrame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 is the top-level window of every Swing application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 components to its content pane, set a size, and make it visible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setDefaultCloseOperation controls what happens when the ✕ is clicked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07 · SWING JFRAME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Your First JFrame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FirstFrame.java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javax.swing.*;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7995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7995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4881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4881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FirstFrame 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1767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1767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args) {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586533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586533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JFrame frame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JFrame(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 First GUI"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755392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755392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24251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24251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frame.setSize(400, 300);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09311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09311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frame.setDefaultCloseOperation(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26197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26197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JFrame.EXIT_ON_CLOSE);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430829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430829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frame.setLocationRelativeTo(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599688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599688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 = center on screen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768547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768547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93740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393740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frame.setVisible(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LAST step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10626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10626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427512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427512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FOUR-STEP RITUAL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Create: new JFrame("title")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Size: setSize(w, h) or pack()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Close behavior: EXIT_ON_CLOSE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Show: setVisible(true) — always last, after adding components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07 · SWING JFRAME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JFrame — Essential Methods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328416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setTitle(String) / new JFrame(String)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the window's title bar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setSize(w, h)  ·  pack()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size, or shrink-wrap to fit components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setDefaultCloseOperation(EXIT_ON_CLOSE)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Terminates the JVM when ✕ is clicked (default: HIDE only!)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setLocationRelativeTo(null)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Centers the window on screen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add(component)  ·  setLayout(mgr)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children to the content pane; picks a layout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setResizable(false)  ·  setVisible(true)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Locks size; displays the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08 OF 10  ·  COLLECTIONS &amp; GUI BASICS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 · JLABEL · JTEXTFIELD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JButton, JLabel &amp; JTextField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components behind almost every simple form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 displays, JTextField collects input, JButton triggers action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getText() / setText() are the bridge between UI and your logic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08 · CORE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JLabel &amp; JTextField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LabelField.java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JLabel — display-only text or icon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9201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9201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 nameLbl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JLabel(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"Name:"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7293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7293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nameLbl.setFont(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Font(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5385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5385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"Arial"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Font.BOLD, 14));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477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3477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81569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81569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JTextField — single-line input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9661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9661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 nameField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JTextField(20);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177540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177540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= width in columns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35846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5846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3938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53938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Reading &amp; writing its content: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72030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72030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typed = nameField.getText();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90122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122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nameField.setText(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"Arun"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08214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08214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nameField.setEditable(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lock it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26306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26306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nameField.setToolTipText(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full name"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JLabel: no interaction — text, icons, or both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JTextField(int cols) hints the preferred width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getText() always returns String — parse for numbers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setEditable(false) ≠ disabled — text stays selectable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08 · CORE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JButton — The Action Trigger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ButtonDemo.java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 submitBtn =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JButton(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9201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9201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72937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72937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Styling basics: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45385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5385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submitBtn.setBackground(Color.DARK_GRAY);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4778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634778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submitBtn.setForeground(Color.WHITE);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81569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81569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submitBtn.setEnabled(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996619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996619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submitBtn.setToolTipText(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 to submit"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177540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177540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35846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5846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Keyboard shortcut (Alt+S):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539381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539381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submitBtn.setMnemonic('S');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72030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72030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901222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901222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click handler (preview of Topic 09):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08214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08214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submitBtn.addActionListener(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4263063"/>
            <a:ext cx="292608" cy="18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4263063"/>
            <a:ext cx="4453128" cy="180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-&gt; System.out.println(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"Clicked!"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JButton does NOTHING until a listener is attached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setEnabled(false) greys it out &amp; blocks clicks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carry an icon: new JButton("Save", icon)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can have multiple listeners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08 · CORE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Them Together — A Simple Form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SimpleForm.java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javax.swing.*;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037740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037740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java.awt.*;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164385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164385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2291029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2291029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SimpleForm {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" y="2417674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2417674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args) {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" y="2544318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2544318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JFrame f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JFrame(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 Form"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" y="2670962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2670962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f.setLayout(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FlowLayout());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" y="2797607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2797607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2924251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" y="2924251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JLabel lbl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JLabel(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"Name:"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" y="3050896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0120" y="3050896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JTextField field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JTextField(15);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" y="3177540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" y="3177540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JButton btn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JButton(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"Greet"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" y="3304184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60120" y="3304184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JLabel out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JLabel(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" y="3430829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0120" y="3430829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" y="3557473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60120" y="3557473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f.add(lbl); f.add(field);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" y="3684118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60120" y="3684118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f.add(btn); f.add(out);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" y="3810762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60120" y="3810762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f.setSize(340, 150);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" y="3937406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60120" y="3937406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f.setDefaultCloseOperation(JFrame.EXIT_ON_CLOSE);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" y="4064051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60120" y="4064051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f.setVisible(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1792" y="4190695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60120" y="4190695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1792" y="4317340"/>
            <a:ext cx="292608" cy="1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0120" y="4317340"/>
            <a:ext cx="4453128" cy="126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715000" y="1783080"/>
            <a:ext cx="29718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15000" y="1783080"/>
            <a:ext cx="29718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2" name="Text 50"/>
          <p:cNvSpPr/>
          <p:nvPr/>
        </p:nvSpPr>
        <p:spPr>
          <a:xfrm>
            <a:off x="5806440" y="17830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Form            —  ✕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52160" y="21671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492240" y="2185416"/>
            <a:ext cx="14630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8A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83680" y="2560320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E8E8E8"/>
          </a:solidFill>
          <a:ln w="12700">
            <a:solidFill>
              <a:srgbClr val="7C8A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2560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15000" y="3520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FlowLayout places items left→right, wrapping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button is inert — Topic 09 wires it up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08 · CORE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Swing Components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EXIT_ON_CLOSE on your main JFrame — the default only hides the window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setVisible(true) LAST, after all components are added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UI on the Event Dispatch Thread: SwingUtilities.invokeLater(() -&gt; new App())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AWT components (Button) inside Swing containers — z-order glitches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 long-running work in the UI thread — the whole window freezes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hard-code pixel positions with setBounds() — use layout managers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 OF 10  ·  COLLECTIONS &amp; GUI BASICS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 (ACTIONLISTENER)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Handling Basics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Delegation Event Model: source → event object → listener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ActionListener's single method actionPerformed() runs on every click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 functional interface, ActionListener works perfectly with lambdas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 · EVENT HANDLING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Delegation Event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JButton, JTextField...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40487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/ types — the component fires an event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FDF1E3"/>
          </a:solidFill>
          <a:ln w="15875">
            <a:solidFill>
              <a:srgbClr val="EBD2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Object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0440" y="2176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ActionEvent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38728" y="240487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details: source, command string, timestamp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EFF8F1"/>
          </a:solidFill>
          <a:ln w="15875">
            <a:solidFill>
              <a:srgbClr val="BFE2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2176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ActionListener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10528" y="240487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registered code — actionPerformed() runs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0" y="2354580"/>
            <a:ext cx="685800" cy="0"/>
          </a:xfrm>
          <a:prstGeom prst="line">
            <a:avLst/>
          </a:prstGeom>
          <a:noFill/>
          <a:ln w="22225">
            <a:solidFill>
              <a:srgbClr val="7C8A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15000" y="2354580"/>
            <a:ext cx="685800" cy="0"/>
          </a:xfrm>
          <a:prstGeom prst="line">
            <a:avLst/>
          </a:prstGeom>
          <a:noFill/>
          <a:ln w="22225">
            <a:solidFill>
              <a:srgbClr val="7C8AA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743200" y="20619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15000" y="20619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wires it up:  button.addActionListener(listener) — "When YOU fire an ActionEvent, deliver it to ME."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3703320"/>
            <a:ext cx="6400800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36192" y="3813048"/>
            <a:ext cx="6071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536192" y="4105656"/>
            <a:ext cx="6071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6192" y="4197096"/>
            <a:ext cx="292608" cy="134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74520" y="4197096"/>
            <a:ext cx="5733288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ActionListener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EventListener {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36192" y="4331208"/>
            <a:ext cx="292608" cy="134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874520" y="4331208"/>
            <a:ext cx="5733288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actionPerformed(ActionEvent e);   </a:t>
            </a:r>
            <a:r>
              <a:rPr lang="en-US" sz="10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exactly ONE method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536192" y="4465320"/>
            <a:ext cx="292608" cy="134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874520" y="4465320"/>
            <a:ext cx="5733288" cy="134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 · EVENT HANDLING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ActionListener — Classic Style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ClickCounter.java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javax.swing.*;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05181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051812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java.awt.event.*;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19252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192528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2333244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2333244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ClickCounter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ActionListener {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" y="2473960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2473960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= 0;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" y="261467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2614676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JButton btn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JButton(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 me"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" y="275539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2755392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JLabel lbl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JLabel(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"Clicks: 0"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" y="289610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2896108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3036824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" y="3036824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ClickCounter() {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" y="3177540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0120" y="3177540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btn.addActionListener(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9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" y="331825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" y="3318256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" y="345897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60120" y="3458972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" y="359968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0120" y="3599688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" y="3740404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60120" y="3740404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actionPerformed(ActionEvent e) {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" y="3881120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60120" y="3881120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count++;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" y="402183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60120" y="4021836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lbl.setText(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"Clicks: 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count);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" y="416255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60120" y="4162552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1792" y="430326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60120" y="4303268"/>
            <a:ext cx="445312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implements ActionListener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addActionListener(this) registers it with the button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→ Swing calls actionPerformed(e)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e.getSource() tells you WHICH component fired, when one listener serves many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 · EVENT HANDLING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ActionListener — Lambda Style (Java 8+)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GreeterApp.java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Completing the SimpleForm from Topic 08: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07995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07995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 field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JTextField(15);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24881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24881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 btn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JButton(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"Greet"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241767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241767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 out =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JLabel(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" y="2586533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2586533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" y="2755392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2755392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Anonymous class (pre-Java 8):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" y="2924251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2924251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btn.addActionListener(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ActionListener() {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" y="309311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309311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actionPerformed(ActionEvent e) {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326197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" y="326197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out.setText(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field.getText());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" y="3430829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0120" y="3430829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" y="3599688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" y="3599688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" y="3768547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60120" y="3768547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" y="393740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0120" y="393740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Lambda — same behaviour, one line: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" y="410626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60120" y="410626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btn.addActionListener(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" y="427512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60120" y="427512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-&gt; out.setText(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field.getText()));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LAMBDA WORKS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 has exactly ONE abstract method — a functional interface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lambda body IS actionPerformed()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 the ActionEvent parameter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getText() at click time, not at setup time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 · EVENT HANDLING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Swing Events &amp; Listeners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1272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Listener Interface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Method(s)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click / Enter in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ActionListener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actionPerformed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 click, enter, 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MouseListener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mouseClicked, mouseEntered...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press / release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KeyListener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keyPressed, keyReleased, keyTyped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 / combo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ItemListener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itemStateChanged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open /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WindowListener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windowClosing, windowOpened...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 · 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Event Handling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Delegation Event Model?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component fires an event object; that object is delivered only to listeners that registered with the source. Handling is thus delegated from source to listener — clean separation of UI and logic.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e.getSource() do?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component that fired the event. Essential when a single listener is registered on multiple buttons — you branch on the source to decide what to do.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ActionListener be a lambda but MouseListener can't?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 has exactly one abstract method — a functional interface. MouseListener has five; for it you use an adapter class (MouseAdapter) and override only what you need.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Event Dispatch Thread (EDT)?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thread on which Swing delivers all events and paints all components. All UI updates must happen on it — hence SwingUtilities.invokeLater() for startup and updates from other threads.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 OF 10  ·  COLLECTIONS &amp; GUI BASICS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MINI APP &amp; WRAP-UP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mini app fusing both halves: a Swing GUI backed by an ArrayList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Quick-fire questions, deep-dive Q&amp;A and MCQ practice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next steps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60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App — Student Register (GUI + Collections)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StudentRegister.java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javax.swing.*;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1998437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1998437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java.awt.*;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2085778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085778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java.util.*;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" y="2173119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2173119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" y="2260460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2260460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StudentRegister {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2347801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2347801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java.util.List&lt;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students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" y="2435142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2435142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2522483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2522483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" y="2609824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2609824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args) {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" y="2697165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2697165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JFrame f = 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JFrame(</a:t>
            </a:r>
            <a:r>
              <a:rPr lang="en-US" sz="9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 Register"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2784506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2784506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f.setLayout(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FlowLayout());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" y="2871847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" y="2871847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JTextField name = 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JTextField(14);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" y="2959188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0120" y="2959188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JButton add = 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JButton(</a:t>
            </a:r>
            <a:r>
              <a:rPr lang="en-US" sz="9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"Add"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" y="3046529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" y="3046529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JLabel status = 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JLabel(</a:t>
            </a:r>
            <a:r>
              <a:rPr lang="en-US" sz="9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 students"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3133870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" y="3133870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" y="3221210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0120" y="3221210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add.addActionListener(e -&gt; {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" y="3308551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0120" y="3308551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students.add(name.getText());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" y="3395892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0120" y="3395892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Collections.sort(students);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" y="3483233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60120" y="3483233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status.setText(students.size()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" y="3570574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60120" y="3570574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+ </a:t>
            </a:r>
            <a:r>
              <a:rPr lang="en-US" sz="9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students: "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students);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1792" y="3657915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0120" y="3657915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name.setText(</a:t>
            </a:r>
            <a:r>
              <a:rPr lang="en-US" sz="9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792" y="3745256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60120" y="3745256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1792" y="3832597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60120" y="3832597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1792" y="3919938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60120" y="3919938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f.add(name); f.add(add); f.add(status);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1792" y="4007279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60120" y="4007279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f.setSize(420, 140);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1792" y="4094620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60120" y="4094620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f.setDefaultCloseOperation(JFrame.EXIT_ON_CLOSE);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1792" y="4181961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60120" y="4181961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f.setVisible(</a:t>
            </a:r>
            <a:r>
              <a:rPr lang="en-US" sz="9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1792" y="4269302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60120" y="4269302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21792" y="4356643"/>
            <a:ext cx="292608" cy="8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60120" y="4356643"/>
            <a:ext cx="4453128" cy="87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COMBINED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715000" y="173736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— dynamic student storage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Collections.sort() — keeps list ordered on every add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 + JTextField + JButton + JLabel — full form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ActionListener — click → update list → refresh label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getText()/setText() bridging UI and data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 · EVENT HANDLING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Event Handling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lambdas for single-method listeners — concise and readable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e.getSource() or separate listeners when several buttons share logic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actionPerformed() short — delegate heavy work off the EDT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loops, file I/O, or sleeps inside actionPerformed — the UI freezes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to register: a listener that isn't added never fires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implement MouseListener directly for one method — extend MouseAdapter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Fire — Common Interview Questions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ArrayList generally preferred over LinkedList in practice?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HashSet decide two objects are duplicates?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2523744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put() an existing key into a HashMap?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054096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removing inside a for-each loop throw ConcurrentModificationException?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5844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358444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Comparable and Comparator in one line each?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Swing UI updates happen on the Event Dispatch Thread?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Deep Dive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pick TreeMap over HashMap despite the O(log n) cost?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keys iterated in sorted order, or range queries like headMap/tailMap/subMap — e.g. "all orders between two dates". HashMap simply cannot answer range questions.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generics make collections safer?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List&lt;String&gt; lets the compiler reject wrong-type inserts and removes casts on retrieval. Raw types defer these errors to runtime as ClassCastException — generics catch them at compile time.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vs JFrame — the real differences?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 is lightweight (Java-drawn), supports a default close operation, adds components to a content pane, and supports pluggable look-and-feel. AWT Frame needs a WindowListener just to close properly.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one JButton have multiple ActionListeners?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addActionListener() can be called repeatedly; all registered listeners fire on each click (order not guaranteed). removeActionListener() detaches one.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MCQ Practice — Verify Your Understanding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087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0976" y="14904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List gives O(1) random access by index?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0976" y="1746504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ArrayList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5087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48656" y="14904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Set keeps elements automatically sorted?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48656" y="1746504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TreeSet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093976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854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0976" y="21671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map.put() return for an existing key?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0976" y="2423160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The OLD value it replaced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093976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1854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48656" y="21671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Iterator method safely deletes during traversal?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48656" y="2423160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it.remove()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770632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8620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0976" y="284378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interface defines a class's natural ordering?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0976" y="3099816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Comparable (compareTo)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770632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8620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48656" y="284378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registers a click handler on a JButton?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48656" y="3099816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addActionListener()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Collections Framework &amp; GUI Basics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17904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= ordered + duplicates; Set = unique; Map = key→value — pick by access pattern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11096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for random access; LinkedList only for heavy head/tail insert-remove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5915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structures are O(1) unordered; Tree structures are O(log n) sorted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07208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Iterator.remove() (or removeIf) is the only safe delete during traversal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55264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= one natural order inside the class; Comparator = unlimited external orders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Swing's J-components + JFrame's four-step ritual build any basic window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51376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flow source → event object → listener; ActionListener + lambda = one-line handlers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91840"/>
            <a:ext cx="3474720" cy="347472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3591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Collections, AWT/Swing or Event Handling?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7863840" cy="0"/>
          </a:xfrm>
          <a:prstGeom prst="line">
            <a:avLst/>
          </a:prstGeom>
          <a:noFill/>
          <a:ln w="12700">
            <a:solidFill>
              <a:srgbClr val="3C54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THE SERIES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— File Handling &amp; JDBC: Streams, Readers/Writers, Serialization &amp; Database Connectivity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 &amp; Applications  ·  Java OOP Series  ·  prajnixlabs.in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7669</Words>
  <Application>Microsoft Macintosh PowerPoint</Application>
  <PresentationFormat>On-screen Show (16:9)</PresentationFormat>
  <Paragraphs>1441</Paragraphs>
  <Slides>60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&amp; GUI Basics (AWT/Swing) — Condensed (Light Theme)</dc:title>
  <dc:subject>PptxGenJS Presentation</dc:subject>
  <dc:creator>Dr. Arun Singh Yadav</dc:creator>
  <cp:lastModifiedBy>Microsoft Office User</cp:lastModifiedBy>
  <cp:revision>2</cp:revision>
  <dcterms:created xsi:type="dcterms:W3CDTF">2026-07-09T02:30:00Z</dcterms:created>
  <dcterms:modified xsi:type="dcterms:W3CDTF">2026-07-17T02:10:04Z</dcterms:modified>
</cp:coreProperties>
</file>