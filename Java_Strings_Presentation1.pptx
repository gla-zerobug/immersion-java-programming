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25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Fundamentals  |  OOP Series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Strings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Student Notes — CharSequence, Immutability, String Pool &amp; Methods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048" y="1920240"/>
            <a:ext cx="1024128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202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81328" y="1920240"/>
            <a:ext cx="1024128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9202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Pool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78608" y="1920240"/>
            <a:ext cx="1024128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9202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StringBuffer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75888" y="1920240"/>
            <a:ext cx="1024128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19202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73168" y="1920240"/>
            <a:ext cx="1024128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9202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70448" y="1920240"/>
            <a:ext cx="1024128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19202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67728" y="1920240"/>
            <a:ext cx="1024128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19202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65008" y="1920240"/>
            <a:ext cx="1024128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19202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2423160"/>
            <a:ext cx="429768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542032"/>
            <a:ext cx="4069080" cy="22677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String — sequence of chars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r>
              <a:rPr lang="en-US" sz="11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"GLA University"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Immutable — new object created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name.</a:t>
            </a: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Mathura"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.out.println(name.length());   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.out.println(name.charAt(</a:t>
            </a: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  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.out.println(name.</a:t>
            </a: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487168"/>
            <a:ext cx="384048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4871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— value cannot change after creation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2962656"/>
            <a:ext cx="384048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9626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Stored in String Constant Pool (if literal)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438144"/>
            <a:ext cx="384048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4381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char stored in 16-bit UTF-16 encoding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3913632"/>
            <a:ext cx="384048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9136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Implements CharSequence &amp; Serializable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4389120"/>
            <a:ext cx="384048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43891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Rich API: 50+ built-in methods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  |  GLA University, Mathura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43434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88696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String?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95728" y="8869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UTF-16, memory layout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343400" cy="530352"/>
          </a:xfrm>
          <a:prstGeom prst="rect">
            <a:avLst/>
          </a:prstGeom>
          <a:solidFill>
            <a:srgbClr val="F7FFF8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4813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Creation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95728" y="14813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vs new keyword, String Pool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75688"/>
            <a:ext cx="43434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7568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07568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CharSequence Interface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95728" y="207568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and implementing classes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4343400" cy="530352"/>
          </a:xfrm>
          <a:prstGeom prst="rect">
            <a:avLst/>
          </a:prstGeom>
          <a:solidFill>
            <a:srgbClr val="F7FFF8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7004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67004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StringBuffer · StringBuilder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95728" y="267004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syntax, when to use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64408"/>
            <a:ext cx="43434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6440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26440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StringTokenizer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95728" y="32644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strings into tokens (+ figure)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58768"/>
            <a:ext cx="4343400" cy="530352"/>
          </a:xfrm>
          <a:prstGeom prst="rect">
            <a:avLst/>
          </a:prstGeom>
          <a:solidFill>
            <a:srgbClr val="F7FFF8"/>
          </a:solidFill>
          <a:ln w="12700">
            <a:solidFill>
              <a:srgbClr val="C6F6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5876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85876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Strings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95728" y="38587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strings are immutable, examples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453128"/>
            <a:ext cx="43434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45312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4531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vs StringBuffer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95728" y="44531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feature-by-feature comparison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18888" y="886968"/>
            <a:ext cx="4005072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88696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67528" y="88696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Part 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76288" y="886968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charAt, concat, equals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18888" y="1554480"/>
            <a:ext cx="4005072" cy="585216"/>
          </a:xfrm>
          <a:prstGeom prst="rect">
            <a:avLst/>
          </a:prstGeom>
          <a:solidFill>
            <a:srgbClr val="F0F8FF"/>
          </a:solidFill>
          <a:ln w="12700">
            <a:solidFill>
              <a:srgbClr val="BAD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155448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67528" y="155448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Part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76288" y="1554480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toUpperCase, toLowerCase, substring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18888" y="2221992"/>
            <a:ext cx="4005072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22219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67528" y="22219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Part 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76288" y="2221992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trim, indexOf, startsWith, endsWith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18888" y="2889504"/>
            <a:ext cx="4005072" cy="585216"/>
          </a:xfrm>
          <a:prstGeom prst="rect">
            <a:avLst/>
          </a:prstGeom>
          <a:solidFill>
            <a:srgbClr val="F0F8FF"/>
          </a:solidFill>
          <a:ln w="12700">
            <a:solidFill>
              <a:srgbClr val="BAD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2889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67528" y="2889504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76288" y="2889504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most-asked interview Q&amp;As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18888" y="3557016"/>
            <a:ext cx="4005072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328" y="3557016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67528" y="355701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— Set 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76288" y="355701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 to 3 with answer keys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18888" y="4224528"/>
            <a:ext cx="4005072" cy="585216"/>
          </a:xfrm>
          <a:prstGeom prst="rect">
            <a:avLst/>
          </a:prstGeom>
          <a:solidFill>
            <a:srgbClr val="F0F8FF"/>
          </a:solidFill>
          <a:ln w="12700">
            <a:solidFill>
              <a:srgbClr val="BAD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422452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67528" y="42245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— Set 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76288" y="4224528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4 to 6 with answer keys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What is a String?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Java, a String is an object that stores a sequence of characters enclosed in double quotes.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character is stored in 16 bits using UTF-16 encoding.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011680" cy="1783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201168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91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3192" y="197510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2322576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created, the value cannot be changed. Any modification creates a new String object.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41448" y="1508760"/>
            <a:ext cx="2011680" cy="1783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1508760"/>
            <a:ext cx="201168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591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197510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Type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322576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an object (not a primitive). It lives in heap or String Constant Pool.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62856" y="1508760"/>
            <a:ext cx="2011680" cy="1783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1508760"/>
            <a:ext cx="201168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1591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36008" y="197510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UTF-16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6008" y="2322576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occupies 16 bits. Supports full Unicode — letters, emoji, symbols.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84264" y="1508760"/>
            <a:ext cx="2011680" cy="1783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84264" y="1508760"/>
            <a:ext cx="201168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4264" y="1591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57416" y="1975104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of Chars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57416" y="2322576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acts like a char[] array. Index 0 = first character, index n-1 = last.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4015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Layout of a String (Figure from Document):</a:t>
            </a:r>
            <a:endParaRPr lang="en-US" sz="12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12464"/>
            <a:ext cx="6858000" cy="129844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7406640" y="3712464"/>
            <a:ext cx="1417320" cy="129844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52360" y="374904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"Geeks" occupies 6 × 16-bit cells at contiguous memory addresses.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Ways to Create a String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1 — String Literal  (Static Memory / String Constant Pool)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8463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4617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 = </a:t>
            </a:r>
            <a:r>
              <a:rPr lang="en-US" sz="11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"GLA University"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JVM checks String Pool first — reuses if exists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2 — Using new Keyword  (Heap Memory)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48463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4617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 = </a:t>
            </a: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String(</a:t>
            </a:r>
            <a:r>
              <a:rPr lang="en-US" sz="11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"Welcome"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creates new object in heap (non-pool)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0" y="841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94960" y="1188720"/>
            <a:ext cx="1325880" cy="16276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88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572768"/>
            <a:ext cx="1143000" cy="4114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5727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057400"/>
            <a:ext cx="1143000" cy="4114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0574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str2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56832" y="1773936"/>
            <a:ext cx="50292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6832" y="2267712"/>
            <a:ext cx="502920" cy="566928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05472" y="1188720"/>
            <a:ext cx="1554480" cy="13898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CONSTANT POOL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96912" y="1664208"/>
            <a:ext cx="137160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1664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"GLA University"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05472" y="2670048"/>
            <a:ext cx="1554480" cy="1005840"/>
          </a:xfrm>
          <a:prstGeom prst="rect">
            <a:avLst/>
          </a:prstGeom>
          <a:solidFill>
            <a:srgbClr val="FFF7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2670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HEAP (non-pool)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96912" y="3035808"/>
            <a:ext cx="137160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3035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"Welcome"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46120"/>
            <a:ext cx="484632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46120"/>
            <a:ext cx="64008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282696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Literal: JVM first checks if the same string exists in the pool. If yes, reuses same object (memory efficient).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813048"/>
            <a:ext cx="48463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813048"/>
            <a:ext cx="64008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849624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String(): JVM always creates a new object in heap (non-pool). The literal also goes into pool separately.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379976"/>
            <a:ext cx="484632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379976"/>
            <a:ext cx="64008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416552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string literals for memory efficiency. Use new String() only when you explicitly need a heap copy.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CharSequence Interface &amp; Implementing Classes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CharSequence is an interface in java.lang that represents a readable sequence of char values. It provides basic methods for working with character sequences.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Methods Provided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3840480" cy="43891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19072"/>
            <a:ext cx="38404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739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12848" y="17739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total number of characters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3840480" cy="43891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21992"/>
            <a:ext cx="38404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768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charAt(int index)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12848" y="2276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char at the specified position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3840480" cy="43891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24912"/>
            <a:ext cx="38404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797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subSequence(start, end)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12848" y="2779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sub-range of the sequence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27832"/>
            <a:ext cx="3840480" cy="43891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27832"/>
            <a:ext cx="38404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12848" y="3282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sequence to a String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1371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Hierarchy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60720" y="1737360"/>
            <a:ext cx="1828800" cy="4572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«interface»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CharSequence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75120" y="2212848"/>
            <a:ext cx="0" cy="36576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578608"/>
            <a:ext cx="384048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2578608"/>
            <a:ext cx="0" cy="32004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2578608"/>
            <a:ext cx="0" cy="32004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2578608"/>
            <a:ext cx="0" cy="32004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2578608"/>
            <a:ext cx="0" cy="32004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898648"/>
            <a:ext cx="914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898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1772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23560" y="2898648"/>
            <a:ext cx="9144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2898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StringBuffer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2356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29400" y="2898648"/>
            <a:ext cx="91440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2898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StringBuilder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2940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35240" y="2898648"/>
            <a:ext cx="914400" cy="566928"/>
          </a:xfrm>
          <a:prstGeom prst="rect">
            <a:avLst/>
          </a:prstGeom>
          <a:solidFill>
            <a:srgbClr val="FFF7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2898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StringTokenizer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63524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0" y="3611880"/>
            <a:ext cx="42519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721608"/>
            <a:ext cx="4023360" cy="1444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=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"gla"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StringBuffer (thread-safe)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StringBuffer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sb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StringBuffer(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"GLA"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StringBuilder (single-threaded)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StringBuilder();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sq.append(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"GFG"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297680"/>
            <a:ext cx="3840480" cy="74980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433425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All four classes implement CharSequence, which means they can be used interchangeably wherever a CharSequence is expected — e.g., in String.contains(CharSequence 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String · StringBuffer · StringBuilder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822960"/>
            <a:ext cx="2834640" cy="418795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22960"/>
            <a:ext cx="283464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869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3258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Immutable — value cannot change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7830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Thread-safe (effectively)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2402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Stored in String Constant Pool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6974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974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Creates new object on every change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1546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Best for fixed/constant 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639312"/>
            <a:ext cx="265176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730752"/>
            <a:ext cx="2487168" cy="11155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= </a:t>
            </a: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s.concat(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World"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 unchanged!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 +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World"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 object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36976" y="822960"/>
            <a:ext cx="2834640" cy="41879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36976" y="822960"/>
            <a:ext cx="283464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8869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StringBuffer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28416" y="13258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3258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Mutable — modify in place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28416" y="17830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17830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Thread-safe (synchronized)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28416" y="22402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2402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Stored in Heap memory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28416" y="26974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6974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new object on modification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28416" y="31546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1546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Best for multi-threaded programs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28416" y="3639312"/>
            <a:ext cx="265176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9856" y="3730752"/>
            <a:ext cx="2487168" cy="11155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StringBuffer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sb = </a:t>
            </a: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StringBuffer(</a:t>
            </a: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World"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"Start 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81344" y="822960"/>
            <a:ext cx="2834640" cy="418795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1344" y="822960"/>
            <a:ext cx="283464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8869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StringBuilder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72784" y="13258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13258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Mutable — modify in place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72784" y="17830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17830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 thread-safe (no sync)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2784" y="22402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5936" y="22402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Stored in Heap memory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72784" y="26974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26974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Faster than StringBuffer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72784" y="315468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315468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Best for single-threaded programs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72784" y="3639312"/>
            <a:ext cx="265176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3730752"/>
            <a:ext cx="2487168" cy="11155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 = </a:t>
            </a: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StringBuilder();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olleH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StringTokenizer — Breaking Strings into Tokens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StringTokenizer?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20700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StringTokenizer breaks a string into smaller pieces called tokens based on a delimiter (default: whitespace). It maintains a current position inside the string and advances token by token.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4480560" cy="21762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425196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java.util.StringTokenizer;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StringTokenizer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 = </a:t>
            </a: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StringTokenizer(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 String Example"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(st.hasMoreTokens())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.out.println(st.nextToken());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Java | String | Example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224528"/>
            <a:ext cx="448056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61104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Useful Methods: hasMoreTokens() — checks if more exist | nextToken() — returns next token | countTokens() — total count remaining | nextToken(delim) — change delimiter on the fly.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841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StringTokenizer — Process Flow (Figure from Document):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07008"/>
            <a:ext cx="3931920" cy="3767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· Immutable Strings in Java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Java, String objects are immutable — once created, their value cannot be changed.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modification creates a new String object instead of modifying the original.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1 — Reference NOT reassigned (s stays "Sachin")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66344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92808"/>
            <a:ext cx="44348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=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"Sachin"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</a:t>
            </a: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Tendulkar"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 object created, s ignores it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.out.println(s);        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prints: Sachin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2 — Reassign reference (s now points to new object)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566160"/>
            <a:ext cx="466344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75888"/>
            <a:ext cx="44348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"Sachin"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name.</a:t>
            </a: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Tendulkar"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reassigned to new object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.out.println(name); 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prints: Sachin Tendulkar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9236" y="841248"/>
            <a:ext cx="24190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Diagram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1261872"/>
            <a:ext cx="256032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261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"Sachin"  (Object 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1389888"/>
            <a:ext cx="292608" cy="25603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3898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517904"/>
            <a:ext cx="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993392"/>
            <a:ext cx="25603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9933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"Sachin Tendulkar"  (Object 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783080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178039" y="1828800"/>
            <a:ext cx="123442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object created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2670048"/>
            <a:ext cx="3657600" cy="502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2688336"/>
            <a:ext cx="3447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still points to "Sachin" — NOT to the new object!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3310128"/>
            <a:ext cx="3657600" cy="166420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21808" y="336499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Immutable?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3712464"/>
            <a:ext cx="34564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can't modify passwords/URLs after passing
</a:t>
            </a: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Pool — safe to share across threads
</a:t>
            </a: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— hashCode computed once, reused
</a:t>
            </a: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— no synchronization needed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· String vs StringBuffer vs StringBuilder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24993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StringBuffer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StringBuilder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(effectively)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Thread-safe (synchronized)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thread-safe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Slowest (on many changes)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(sync overhead)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of three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Constant Pool (literal)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object per modification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object modified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object modified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or concat() — creates new obj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append() — in-place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append() — in-place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Fixed/constant text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Multi-threaded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Single-threaded, high perf.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(Java 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645152"/>
            <a:ext cx="4087368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672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String for constants, config values, display text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80560" y="4645152"/>
            <a:ext cx="196596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90288" y="467258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StringBuffer for multi-thread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10528" y="4645152"/>
            <a:ext cx="2313432" cy="40233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" name="Text 7"/>
          <p:cNvSpPr/>
          <p:nvPr/>
        </p:nvSpPr>
        <p:spPr>
          <a:xfrm>
            <a:off x="6620256" y="46725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StringBuilder for best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· String Methods — Part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java.util.*;  // always available from java.lang — no import needed for String methods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965960" cy="1792224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19659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4358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" y="1609344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number of characters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" y="1920240"/>
            <a:ext cx="1819656" cy="9784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11680"/>
            <a:ext cx="1636776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=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s.length();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→ 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77440" y="1170432"/>
            <a:ext cx="1965960" cy="1792224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170432"/>
            <a:ext cx="19659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24358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charAt(index)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50592" y="1609344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char at given index (0-based)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50592" y="1920240"/>
            <a:ext cx="1819656" cy="9784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2011680"/>
            <a:ext cx="1636776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=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s.charAt(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→ 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34840" y="1170432"/>
            <a:ext cx="1965960" cy="1792224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170432"/>
            <a:ext cx="19659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1243584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concat(str)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07992" y="1609344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two strings together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07992" y="1920240"/>
            <a:ext cx="1819656" cy="9784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2011680"/>
            <a:ext cx="1636776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s1 = 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s1.concat(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→ HelloWorld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127248"/>
            <a:ext cx="4160520" cy="1792224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127248"/>
            <a:ext cx="416052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200400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equals(str)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3192" y="3566160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content of two strings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3192" y="3877056"/>
            <a:ext cx="4014216" cy="9784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968496"/>
            <a:ext cx="3831336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.equals(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true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.equals(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false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3127248"/>
            <a:ext cx="4480560" cy="1792224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127248"/>
            <a:ext cx="448056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3200400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equalsIgnoreCase(str)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645152" y="356616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strings ignoring case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45152" y="3877056"/>
            <a:ext cx="4334256" cy="9784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968496"/>
            <a:ext cx="4151376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.equalsIgnoreCase(</a:t>
            </a:r>
            <a:r>
              <a:rPr lang="en-US" sz="105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0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true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956048"/>
            <a:ext cx="8503920" cy="128016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74336"/>
            <a:ext cx="8275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NEVER use == to compare Strings. Use .equals() for content comparison. == checks memory addresses, not values.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· String Methods — Part 2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926080" cy="17556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2926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all chars to uppercase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91056"/>
            <a:ext cx="2743200" cy="9326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82496"/>
            <a:ext cx="25603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"hello".toUpperCase();  // → HELLO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4992" y="841248"/>
            <a:ext cx="2926080" cy="17556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841248"/>
            <a:ext cx="2926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all chars to lowercase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1591056"/>
            <a:ext cx="2743200" cy="9326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1682496"/>
            <a:ext cx="25603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"HELLO".toLowerCase();  // → hello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2926080" cy="17556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697480"/>
            <a:ext cx="2926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70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substring(s, 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from index s to e (e excluded)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447288"/>
            <a:ext cx="2743200" cy="9326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38728"/>
            <a:ext cx="25603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"Programming".substring(0, 6);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Progra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4992" y="2697480"/>
            <a:ext cx="2926080" cy="17556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4992" y="2697480"/>
            <a:ext cx="2926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770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contains(seq)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56432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string contains given text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56432" y="3447288"/>
            <a:ext cx="2743200" cy="9326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538728"/>
            <a:ext cx="25603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 Programming".contains("Java");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true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841248"/>
            <a:ext cx="2487168" cy="17556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841248"/>
            <a:ext cx="248716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9144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replace(old, new)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128016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characters or substrings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1591056"/>
            <a:ext cx="2304288" cy="9326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682496"/>
            <a:ext cx="2121408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"Java".replace('a', 'o');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Jovo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55080" y="2697480"/>
            <a:ext cx="2487168" cy="26517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2697480"/>
            <a:ext cx="2487168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277063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replace() variants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46520" y="3127248"/>
            <a:ext cx="2304288" cy="2148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218688"/>
            <a:ext cx="2157984" cy="199339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Replace char with char: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.replace('a','o');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Jovo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Replace substring: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love cat"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"dog"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I love dog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· String Methods — Part 3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3063240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306324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leading and trailing whitespace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288036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269748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Hello  ".trim();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Hello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822960"/>
            <a:ext cx="306324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822960"/>
            <a:ext cx="306324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8961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12618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first occurrence index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1572768"/>
            <a:ext cx="288036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664208"/>
            <a:ext cx="269748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"Banana".indexOf('a');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3063240" cy="20116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71800"/>
            <a:ext cx="306324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449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lastIndexOf()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last occurrence index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721608"/>
            <a:ext cx="288036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13048"/>
            <a:ext cx="269748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"Banana".lastIndexOf('a');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2971800"/>
            <a:ext cx="3063240" cy="20116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2971800"/>
            <a:ext cx="30632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0449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11880" y="3410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string starts with given prefix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11880" y="3721608"/>
            <a:ext cx="288036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813048"/>
            <a:ext cx="269748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 Prog".startsWith("Java");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true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75120" y="822960"/>
            <a:ext cx="2148840" cy="20116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822960"/>
            <a:ext cx="21488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896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endsWith()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string ends with given suffix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1572768"/>
            <a:ext cx="196596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664208"/>
            <a:ext cx="178308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 Prog".endsWith("ing");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true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75120" y="2971800"/>
            <a:ext cx="2148840" cy="20116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2971800"/>
            <a:ext cx="21488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044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Summary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84848" y="3401568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length() → size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84848" y="3557016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charAt(i) → char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84848" y="3712464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concat() → join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84848" y="3867912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equals() → compare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84848" y="4023360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toUpperCase()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84848" y="4178808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substring(s,e)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84848" y="4334256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contains()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84848" y="4489704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replace()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84848" y="4645152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trim() → clean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84848" y="4800600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indexOf() → find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Java String Interview Questions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68680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052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Q1. Why are Strings immutable in Java?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security, caching hashCode, safe sharing in String Pool, and thread-safety without synchronization.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" y="1709928"/>
            <a:ext cx="4206240" cy="777240"/>
          </a:xfrm>
          <a:prstGeom prst="rect">
            <a:avLst/>
          </a:prstGeom>
          <a:solidFill>
            <a:srgbClr val="F0FAFF"/>
          </a:solidFill>
          <a:ln w="12700">
            <a:solidFill>
              <a:srgbClr val="C1E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709928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46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Q2. What is the String Constant Pool?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03911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heap area where JVM stores String literals to reuse them and save memory.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" y="2551176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2551176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Q3. Difference between == and .equals()?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 memory addresses (references). .equals() compares actual character content.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3392424"/>
            <a:ext cx="4206240" cy="777240"/>
          </a:xfrm>
          <a:prstGeom prst="rect">
            <a:avLst/>
          </a:prstGeom>
          <a:solidFill>
            <a:srgbClr val="F0FAFF"/>
          </a:solidFill>
          <a:ln w="12700">
            <a:solidFill>
              <a:srgbClr val="C1E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3392424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29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Q4. Difference: String, StringBuffer, StringBuilder?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72160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String: immutable. StringBuffer: mutable + thread-safe. StringBuilder: mutable + faster (not thread-safe).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4233672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4233672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70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Q5. Output of: String s="A"; s.concat("B"); print(s)?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56285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A. concat() creates a new object but s still points to original "A" — immutability in action.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36008" y="868680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868680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9052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Q6. What is String interning?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11978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str.intern() places the string into the pool and returns the pool reference, enabling == comparison.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36008" y="1709928"/>
            <a:ext cx="4206240" cy="777240"/>
          </a:xfrm>
          <a:prstGeom prst="rect">
            <a:avLst/>
          </a:prstGeom>
          <a:solidFill>
            <a:srgbClr val="F0FAFF"/>
          </a:solidFill>
          <a:ln w="12700">
            <a:solidFill>
              <a:srgbClr val="C1E0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36008" y="1709928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746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Q7. How does String concatenation work with +?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03911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converts + into StringBuilder.append() calls under the hood — especially in loops, this creates many temp objects.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36008" y="2551176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36008" y="2551176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587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Q8. When to use StringBuffer vs StringBuilder?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28803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StringBuffer in multi-threaded code (synchronized). StringBuilder in single-threaded code for better performance.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36008" y="3392424"/>
            <a:ext cx="4206240" cy="777240"/>
          </a:xfrm>
          <a:prstGeom prst="rect">
            <a:avLst/>
          </a:prstGeom>
          <a:solidFill>
            <a:srgbClr val="F0FAFF"/>
          </a:solidFill>
          <a:ln w="12700">
            <a:solidFill>
              <a:srgbClr val="C1E0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6008" y="3392424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429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Q9. What is charAt() and indexOf() difference?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372160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charAt(i) returns the character at index i. indexOf(ch) returns the index (position) of the first occurrence of ch.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36008" y="4233672"/>
            <a:ext cx="420624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6008" y="4233672"/>
            <a:ext cx="6400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270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Q10. Can a String be null? What happens if you call methods on null?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456285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String can be null. Calling any method on a null reference throws NullPointerException at runtime.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MCQ — Set 1  (Multiple Choice Questions)  Q1 – Q3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2834640" cy="530352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28346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265176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4E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Q1. What is the default value of an uninitialized String variable?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40817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0817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"" (empty string)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" y="2002536"/>
            <a:ext cx="283464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2002536"/>
            <a:ext cx="283464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00253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B)  null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608" y="259689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59689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" y="319125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19125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undefined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" y="3858768"/>
            <a:ext cx="2834640" cy="777240"/>
          </a:xfrm>
          <a:prstGeom prst="rect">
            <a:avLst/>
          </a:prstGeom>
          <a:solidFill>
            <a:srgbClr val="FFF7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416966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null — Reference types default to null in Java.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64408" y="804672"/>
            <a:ext cx="2834640" cy="530352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804672"/>
            <a:ext cx="28346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822960"/>
            <a:ext cx="265176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4E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Q2. What does "Hello".charAt(1) return?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140817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140817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'H'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64408" y="2002536"/>
            <a:ext cx="283464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2002536"/>
            <a:ext cx="283464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200253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B)  'e'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64408" y="259689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259689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'l'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64408" y="319125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4136" y="319125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'1'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64408" y="3858768"/>
            <a:ext cx="2834640" cy="777240"/>
          </a:xfrm>
          <a:prstGeom prst="rect">
            <a:avLst/>
          </a:prstGeom>
          <a:solidFill>
            <a:srgbClr val="FFF7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55848" y="416966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'e' — Index starts at 0: H=0, e=1, l=2, l=3, o=4.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36208" y="804672"/>
            <a:ext cx="2834640" cy="530352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804672"/>
            <a:ext cx="28346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822960"/>
            <a:ext cx="265176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4E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Q3. Which method converts a String to uppercase?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36208" y="140817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140817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upper()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36208" y="200253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200253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toUpper()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36208" y="2596896"/>
            <a:ext cx="283464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36208" y="2596896"/>
            <a:ext cx="283464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259689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C)  toUpperCase()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36208" y="319125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319125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makeUpper()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36208" y="3858768"/>
            <a:ext cx="2834640" cy="777240"/>
          </a:xfrm>
          <a:prstGeom prst="rect">
            <a:avLst/>
          </a:prstGeom>
          <a:solidFill>
            <a:srgbClr val="FFF7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27648" y="416966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toUpperCase() — defined in java.lang.String.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MCQ — Set 2  (Multiple Choice Questions)  Q4 – Q6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2834640" cy="530352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28346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265176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4E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Q4. Output?  String s="Sachin"; s.concat(" T"); System.out.println(s);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40817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0817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Sachin 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" y="2002536"/>
            <a:ext cx="283464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2002536"/>
            <a:ext cx="283464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00253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B)  Sachin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608" y="259689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59689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" y="319125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19125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Compile Error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" y="3858768"/>
            <a:ext cx="2834640" cy="777240"/>
          </a:xfrm>
          <a:prstGeom prst="rect">
            <a:avLst/>
          </a:prstGeom>
          <a:solidFill>
            <a:srgbClr val="FFF7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416966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Sachin — Strings are immutable. concat() creates new object; s still points to "Sachin".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64408" y="804672"/>
            <a:ext cx="2834640" cy="530352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804672"/>
            <a:ext cx="28346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822960"/>
            <a:ext cx="265176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4E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Q5. Which class is thread-safe for mutable string operations?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140817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140817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String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64408" y="200253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200253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StringBuilder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64408" y="2596896"/>
            <a:ext cx="283464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4408" y="2596896"/>
            <a:ext cx="283464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259689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C)  StringBuffer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64408" y="319125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4136" y="319125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StringTokenizer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64408" y="3858768"/>
            <a:ext cx="2834640" cy="777240"/>
          </a:xfrm>
          <a:prstGeom prst="rect">
            <a:avLst/>
          </a:prstGeom>
          <a:solidFill>
            <a:srgbClr val="FFF7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55848" y="416966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StringBuffer — It is synchronized (thread-safe). StringBuilder is NOT synchronized.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36208" y="804672"/>
            <a:ext cx="2834640" cy="530352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804672"/>
            <a:ext cx="28346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822960"/>
            <a:ext cx="265176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4E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Q6. What does "Java".substring(1, 3) return?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36208" y="140817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140817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"A)  "Jav"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36208" y="200253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200253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"ava"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36208" y="2596896"/>
            <a:ext cx="283464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36208" y="2596896"/>
            <a:ext cx="283464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259689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C)  "av"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36208" y="3191256"/>
            <a:ext cx="2834640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3191256"/>
            <a:ext cx="2615184" cy="521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"va"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36208" y="3858768"/>
            <a:ext cx="2834640" cy="777240"/>
          </a:xfrm>
          <a:prstGeom prst="rect">
            <a:avLst/>
          </a:prstGeom>
          <a:solidFill>
            <a:srgbClr val="FFF7F0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27648" y="4169664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"av" — substring(1,3) extracts index 1 to 2 (end index 3 is EXCLUDED).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2490</Words>
  <Application>Microsoft Macintosh PowerPoint</Application>
  <PresentationFormat>On-screen Show (16:9)</PresentationFormat>
  <Paragraphs>404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Strings — Comprehensive Notes</dc:title>
  <dc:subject>PptxGenJS Presentation</dc:subject>
  <dc:creator>Dr. Arun Singh Yadav</dc:creator>
  <cp:lastModifiedBy>Microsoft Office User</cp:lastModifiedBy>
  <cp:revision>2</cp:revision>
  <dcterms:created xsi:type="dcterms:W3CDTF">2026-06-08T00:55:38Z</dcterms:created>
  <dcterms:modified xsi:type="dcterms:W3CDTF">2026-06-08T06:52:52Z</dcterms:modified>
</cp:coreProperties>
</file>