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97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44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7677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1645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Fundamentals  |  OOP Series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8404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Arrays in Java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138988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Student Notes — Data Structures &amp; Core Java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1480" y="2011680"/>
            <a:ext cx="1115568" cy="3200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011680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618488" y="2011680"/>
            <a:ext cx="1115568" cy="3200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18488" y="2011680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Model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25496" y="2011680"/>
            <a:ext cx="1115568" cy="3200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25496" y="2011680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Arrays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032504" y="2011680"/>
            <a:ext cx="1115568" cy="3200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32504" y="2011680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239512" y="2011680"/>
            <a:ext cx="1115568" cy="3200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39512" y="2011680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46520" y="2011680"/>
            <a:ext cx="1115568" cy="3200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2011680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653528" y="2011680"/>
            <a:ext cx="1115568" cy="3200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53528" y="2011680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Q&amp;A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2487168"/>
            <a:ext cx="4389120" cy="24231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2606040"/>
            <a:ext cx="4114800" cy="2194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scores = {</a:t>
            </a:r>
            <a:r>
              <a:rPr lang="en-US" sz="11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85</a:t>
            </a: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1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92</a:t>
            </a: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1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78</a:t>
            </a: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1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95</a:t>
            </a: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Accessing elements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.out.println(scores[</a:t>
            </a:r>
            <a:r>
              <a:rPr lang="en-US" sz="11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]);  </a:t>
            </a:r>
            <a:r>
              <a:rPr lang="en-US" sz="1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85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.out.println(scores.length);  </a:t>
            </a:r>
            <a:r>
              <a:rPr lang="en-US" sz="1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Sort &amp; print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Arrays</a:t>
            </a: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.sort(scores);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74920" y="2578608"/>
            <a:ext cx="374904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66360" y="257860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Fixed-size, ordered collection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74920" y="3035808"/>
            <a:ext cx="374904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66360" y="303580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Same data type — homogeneous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74920" y="3493008"/>
            <a:ext cx="374904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66360" y="349300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Zero-indexed (starts at 0)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74920" y="3950208"/>
            <a:ext cx="374904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66360" y="395020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 O(1) random access via index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074920" y="4407408"/>
            <a:ext cx="374904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66360" y="440740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 Stored contiguously in heap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Applications  |  GLA University, Mathura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 of Contents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20040" y="886968"/>
            <a:ext cx="434340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86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04672" y="88696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Array?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67712" y="8869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properties, fixed-size, zero-indexed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298448"/>
            <a:ext cx="4343400" cy="347472"/>
          </a:xfrm>
          <a:prstGeom prst="rect">
            <a:avLst/>
          </a:prstGeom>
          <a:solidFill>
            <a:srgbClr val="F8FAFF"/>
          </a:solidFill>
          <a:ln w="12700">
            <a:solidFill>
              <a:srgbClr val="E0EA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298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4672" y="129844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Model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67712" y="129844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vs Heap, default values, memory layout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709928"/>
            <a:ext cx="434340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7099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4672" y="170992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Declaration &amp; Init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67712" y="17099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ways to declare, runtime sizing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121408"/>
            <a:ext cx="4343400" cy="347472"/>
          </a:xfrm>
          <a:prstGeom prst="rect">
            <a:avLst/>
          </a:prstGeom>
          <a:solidFill>
            <a:srgbClr val="F8FAFF"/>
          </a:solidFill>
          <a:ln w="12700">
            <a:solidFill>
              <a:srgbClr val="E0EA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121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4672" y="212140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Access, Modify &amp; .length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267712" y="21214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access, modification, traversal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532888"/>
            <a:ext cx="434340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532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4672" y="25328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Traversal Methods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67712" y="25328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for, for-each, while, streams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2944368"/>
            <a:ext cx="4343400" cy="347472"/>
          </a:xfrm>
          <a:prstGeom prst="rect">
            <a:avLst/>
          </a:prstGeom>
          <a:solidFill>
            <a:srgbClr val="F8FAFF"/>
          </a:solidFill>
          <a:ln w="12700">
            <a:solidFill>
              <a:srgbClr val="E0EA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2944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04672" y="294436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Utility — Part 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267712" y="29443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sort(), binarySearch()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3355848"/>
            <a:ext cx="434340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3355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04672" y="335584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Utility — Part 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267712" y="335584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fill(), copyOf(), equals(), toString()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3767328"/>
            <a:ext cx="4343400" cy="347472"/>
          </a:xfrm>
          <a:prstGeom prst="rect">
            <a:avLst/>
          </a:prstGeom>
          <a:solidFill>
            <a:srgbClr val="F8FAFF"/>
          </a:solidFill>
          <a:ln w="12700">
            <a:solidFill>
              <a:srgbClr val="E0EA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3767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04672" y="376732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Arrays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267712" y="37673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Grids, nested loops, row/column access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" y="4178808"/>
            <a:ext cx="434340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4178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04672" y="417880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Jagged &amp; 3D Arrays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267712" y="41788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Variable-length rows, 3D structures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0040" y="4590288"/>
            <a:ext cx="4343400" cy="347472"/>
          </a:xfrm>
          <a:prstGeom prst="rect">
            <a:avLst/>
          </a:prstGeom>
          <a:solidFill>
            <a:srgbClr val="F8FAFF"/>
          </a:solidFill>
          <a:ln w="12700">
            <a:solidFill>
              <a:srgbClr val="E0EA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4590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04672" y="45902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Semantics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267712" y="45902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Assignment, method passing, cloning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00600" y="886968"/>
            <a:ext cx="4023360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92040" y="886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285232" y="88696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vs Binary Search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748272" y="88696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vs O(log n) implementations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800600" y="1298448"/>
            <a:ext cx="4023360" cy="347472"/>
          </a:xfrm>
          <a:prstGeom prst="rect">
            <a:avLst/>
          </a:prstGeom>
          <a:solidFill>
            <a:srgbClr val="F8FFFB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92040" y="1298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285232" y="129844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Algorithms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748272" y="129844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Bubble, Selection, Insertion + comparison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800600" y="1709928"/>
            <a:ext cx="4023360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92040" y="17099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285232" y="170992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Programs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748272" y="170992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Max/Min, Reverse, Duplicates, Rotate, Merge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800600" y="2121408"/>
            <a:ext cx="4023360" cy="347472"/>
          </a:xfrm>
          <a:prstGeom prst="rect">
            <a:avLst/>
          </a:prstGeom>
          <a:solidFill>
            <a:srgbClr val="F8FFFB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92040" y="2121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285232" y="212140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vs ArrayList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748272" y="212140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Feature-by-feature comparison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800600" y="2532888"/>
            <a:ext cx="4023360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92040" y="2532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5285232" y="25328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Exceptions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6748272" y="253288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AIOOBE, NullPointer, NegativeArraySize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800600" y="2944368"/>
            <a:ext cx="4023360" cy="347472"/>
          </a:xfrm>
          <a:prstGeom prst="rect">
            <a:avLst/>
          </a:prstGeom>
          <a:solidFill>
            <a:srgbClr val="F8FFFB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92040" y="2944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5285232" y="294436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Concepts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6748272" y="294436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clone(), covariance, System.arraycopy()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4800600" y="3355848"/>
            <a:ext cx="4023360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892040" y="3355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5285232" y="335584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Q&amp;A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6748272" y="335584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frequently asked questions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4800600" y="3767328"/>
            <a:ext cx="4023360" cy="347472"/>
          </a:xfrm>
          <a:prstGeom prst="rect">
            <a:avLst/>
          </a:prstGeom>
          <a:solidFill>
            <a:srgbClr val="F8FFFB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892040" y="3767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5285232" y="376732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6748272" y="376732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cheat sheet of all operations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· What Is an Array?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array is a fixed-size, ordered collection of elements of the same data type,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contiguous (adjacent) memory locations.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572768"/>
            <a:ext cx="1600200" cy="21488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572768"/>
            <a:ext cx="1600200" cy="5486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66420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84048" y="2084832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Fixed Size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2468880"/>
            <a:ext cx="147218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grow or shrink after creation — size must be specified at declaration.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011680" y="1572768"/>
            <a:ext cx="1600200" cy="21488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0" y="1572768"/>
            <a:ext cx="1600200" cy="5486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0" y="166420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075688" y="2084832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Homogeneous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75688" y="2468880"/>
            <a:ext cx="147218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element must be the same data type (all int, all String, etc.).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703320" y="1572768"/>
            <a:ext cx="1600200" cy="21488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03320" y="1572768"/>
            <a:ext cx="1600200" cy="5486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03320" y="166420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0️⃣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767328" y="2084832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Zero-Indexed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767328" y="2468880"/>
            <a:ext cx="147218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element is at index 0. Last element is at index length − 1.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394960" y="1572768"/>
            <a:ext cx="1600200" cy="21488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94960" y="1572768"/>
            <a:ext cx="1600200" cy="5486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94960" y="166420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458968" y="2084832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Access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58968" y="2468880"/>
            <a:ext cx="147218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element accessed directly in O(1) time using its index.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086600" y="1572768"/>
            <a:ext cx="1600200" cy="21488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86600" y="1572768"/>
            <a:ext cx="1600200" cy="5486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86600" y="166420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150608" y="2084832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Contiguous Memory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150608" y="2468880"/>
            <a:ext cx="147218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elements stored side-by-side in RAM, enabling fast traversal.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0040" y="3794760"/>
            <a:ext cx="8503920" cy="1161288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3794760"/>
            <a:ext cx="850392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8587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📦  Real-Life Analogy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418795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an array like a row of numbered mailboxes in an apartment building. Each box has a fixed number (index starting from 0), holds one item, and you can jump directly to any box without opening others. The building has a fixed number of boxes — you cannot add more without rebuilding.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· Memory Model — Stack vs Heap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20040" y="886968"/>
            <a:ext cx="2560320" cy="24688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86968"/>
            <a:ext cx="256032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5097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STACK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353312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local variables and method call info. Very fast.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array reference variable (pointer) lives here.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4360" y="2542032"/>
            <a:ext cx="2011680" cy="50292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786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int[] marks →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26080" y="2788920"/>
            <a:ext cx="822960" cy="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2606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28090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794760" y="886968"/>
            <a:ext cx="5029200" cy="246888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94760" y="886968"/>
            <a:ext cx="502920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86200" y="95097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F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86200" y="135331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objects, including arrays. Managed by Garbage Collector.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array data lives here.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977640" y="2057400"/>
            <a:ext cx="777240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77640" y="205740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977640" y="25420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[0]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2057400"/>
            <a:ext cx="777240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05740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0" y="25420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715000" y="2057400"/>
            <a:ext cx="777240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15000" y="205740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715000" y="25420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583680" y="2057400"/>
            <a:ext cx="777240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205740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83680" y="25420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452360" y="2057400"/>
            <a:ext cx="777240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52360" y="205740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452360" y="25420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[4]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886200" y="287121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int[] scores = {85, 92, 78, 95, 60};  ← each int = 4 bytes → 5×4 = 20 bytes contiguous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0040" y="3493008"/>
            <a:ext cx="8503920" cy="4114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520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O(1) Access:  To reach scores[2], Java calculates  base_address + (2 × 4 bytes)  → direct jump. This is why array access is always constant time.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20040" y="400507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Default Values After new</a:t>
            </a:r>
            <a:endParaRPr lang="en-US" sz="13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43400"/>
          <a:ext cx="4572000" cy="155448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 / short / byte / long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 / double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'\u0000' (null char)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 / Object (reference)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6" name="Shape 33"/>
          <p:cNvSpPr/>
          <p:nvPr/>
        </p:nvSpPr>
        <p:spPr>
          <a:xfrm>
            <a:off x="5074920" y="4041648"/>
            <a:ext cx="3749040" cy="1005840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166360" y="40965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⚠️  Pitfall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5166360" y="440740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arrays default to null, NOT empty string "". Calling names[0].length() throws NullPointerException!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· Declaration, Creation &amp; Initialization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20040" y="8686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Way 1 — Declare first, create later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4206240" cy="12344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25880"/>
            <a:ext cx="3977640" cy="1051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scores;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</a:t>
            </a: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int[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scores[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85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scores[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92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663440" y="868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Way 2 — Declare and create together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207008"/>
            <a:ext cx="411480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325880"/>
            <a:ext cx="38862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scores = </a:t>
            </a: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int[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default values (all 0)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0040" y="25420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5F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Way 3 — Array literal  (preferred ★)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2880360"/>
            <a:ext cx="841248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999232"/>
            <a:ext cx="82296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scores = {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85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92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78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95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    </a:t>
            </a: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size inferred automatically — compact &amp; readable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20040" y="363931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Dynamic Size at Runtime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977640"/>
            <a:ext cx="4206240" cy="80467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096512"/>
            <a:ext cx="4023360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 = sc.nextInt();  </a:t>
            </a: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read from user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marks = </a:t>
            </a: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int[n];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JVM allocates memory dynamically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3639312"/>
            <a:ext cx="4114800" cy="117043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369417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5F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 Best Practices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404164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put [] after the type: </a:t>
            </a: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int[] arr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Avoid C-style: </a:t>
            </a:r>
            <a:r>
              <a:rPr lang="en-US" sz="115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arr[]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Prefer array literals when values are known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 runtime sizing (new int[n]) for user-input sizes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· Accessing, Modifying &amp; the .length Property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20040" y="8686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Index-Based Access &amp; Modification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4937760" cy="23317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25880"/>
            <a:ext cx="4754880" cy="2148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days = {</a:t>
            </a:r>
            <a:r>
              <a:rPr lang="en-US" sz="1050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"Mon"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50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"Tue"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... ,</a:t>
            </a:r>
            <a:r>
              <a:rPr lang="en-US" sz="1050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"Sun"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.out.println(days[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]);    </a:t>
            </a: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Mon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.out.println(days[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]);    </a:t>
            </a: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Sun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Modify: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days[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</a:t>
            </a:r>
            <a:r>
              <a:rPr lang="en-US" sz="1050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"Saturday"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✗ WRONG — throws exception: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days[days.length]    // use days[days.length-1]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3611880"/>
            <a:ext cx="4937760" cy="749808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657600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Critical Rule:  Valid indices are  0  to  length−1. Accessing index −1 or index == length throws ArrayIndexOutOfBoundsException at RUNTIME — Java does NOT warn at compile time.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40680" y="868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.length Property — Field, Not Method!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40680" y="1207007"/>
            <a:ext cx="3383280" cy="1806357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77840" y="1325880"/>
            <a:ext cx="315468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arr = </a:t>
            </a: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int[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✓ Correct: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arr.length    </a:t>
            </a: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10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✗ Wrong — compile error: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arr.length()  </a:t>
            </a: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← not a method!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String uses method (brackets):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"Alice".length()  </a:t>
            </a: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5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40680" y="3351693"/>
            <a:ext cx="3383280" cy="14173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40680" y="3351693"/>
            <a:ext cx="3383280" cy="5486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3406557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facts about .length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532120" y="3744885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field, set once at creation
</a:t>
            </a: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never change after creation
</a:t>
            </a: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parentheses — NOT a method call
</a:t>
            </a: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2D arrays: arr.length = rows,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arr[0].length = columns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· Four Ways to Traverse an Array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20040" y="82296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int[] temps = {30, 32, 29, 35, 28, 31, 27};  // temperatures for 7 days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123444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 1 — Classic for (when index is needed)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0040" y="1554480"/>
            <a:ext cx="4160520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73352"/>
            <a:ext cx="3977640" cy="13716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i=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i &lt; temps.length; i++)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System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.out.println("Day " + (i+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+ ": " + temps[i]);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0" y="123444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65F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 2 — for-each (cleanest, no index)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0" y="1554480"/>
            <a:ext cx="4160520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673352"/>
            <a:ext cx="3977640" cy="13716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temp : temps)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System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.out.println(temp + </a:t>
            </a:r>
            <a:r>
              <a:rPr lang="en-US" sz="1050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"°C"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0040" y="301752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D2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 3 — while loop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3337560"/>
            <a:ext cx="4160520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456432"/>
            <a:ext cx="3977640" cy="13716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= 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(i &lt; temps.length)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System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.out.println(temps[i]);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i++;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0" y="301752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 4 — Arrays.stream() · Java 8+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0" y="3337560"/>
            <a:ext cx="4160520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3456432"/>
            <a:ext cx="3977640" cy="13716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java.util.Arrays;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.stream(temps)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.forEach(t -&gt; System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.out.println(t + 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"°C"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681728"/>
            <a:ext cx="8275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Use for loop when you need the index or want to modify elements. Use for-each for read-only — cleaner, avoids off-by-one errors. for-each CANNOT modify primitive array elements.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· java.util.Arrays — sort() &amp; binarySearch()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20040" y="8229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java.util.Arrays;  // always import at top of file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114300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Arrays.sort()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81328"/>
            <a:ext cx="4160520" cy="25146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00200"/>
            <a:ext cx="3931920" cy="2331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Primitives (Dual-Pivot Quicksort)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marks = {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72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88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Arrays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.sort(marks);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[31, 45, 72, 88]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Sort partial range (index 1 to 3):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Arrays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.sort(prices, 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Reverse — needs Integer[], not int[]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Integer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nums = {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Arrays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.sort(nums, (a,b) -&gt; b-a);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[8, 5, 2, 1]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4050792"/>
            <a:ext cx="4160520" cy="502920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09651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sort() cannot reverse-sort primitive arrays directly. Use Integer[] (wrapper) and a comparator. Common interview trap!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617720" y="114300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Arrays.binarySearch()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17720" y="1481328"/>
            <a:ext cx="4160520" cy="25146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600200"/>
            <a:ext cx="3931920" cy="2331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Array MUST be sorted first!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Time complexity: O(log n)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scores = {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72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88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idx = Arrays</a:t>
            </a:r>
            <a:r>
              <a:rPr lang="en-US" sz="10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.binarySearch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(scores, 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72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idx = 2  (found at index 2)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nf = Arrays</a:t>
            </a:r>
            <a:r>
              <a:rPr lang="en-US" sz="10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.binarySearch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(scores, 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nf = -3  (negative = not found)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Formula: -(insertion point) - 1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17720" y="4050792"/>
            <a:ext cx="4160520" cy="50292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409651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Negative return means not found. Value = -(where it would be inserted) − 1. Returns ≥0 only when element exists.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· java.util.Arrays — fill(), copyOf(), equals(), toString()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20040" y="886968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86968"/>
            <a:ext cx="4160520" cy="5486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7840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2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Arrays.fill()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298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entire array or range with one value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545336"/>
            <a:ext cx="3977640" cy="11155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36776"/>
            <a:ext cx="3794760" cy="9601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grid = </a:t>
            </a: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int[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.fill(grid, -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</a:t>
            </a: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[-1,-1,-1,-1,-1]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.fill(grid, 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99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</a:t>
            </a: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[-1,99,99,99,-1]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DP tables: Arrays.fill(dp, -1)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886968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886968"/>
            <a:ext cx="416052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89527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Arrays.copyOf() / copyOfRange()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09160" y="1157127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copy — partial, full, or padded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1385727"/>
            <a:ext cx="3977640" cy="1275177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422303"/>
            <a:ext cx="3794760" cy="117459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a = {</a:t>
            </a:r>
            <a:r>
              <a:rPr lang="en-US" sz="10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 err="1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Arrays</a:t>
            </a:r>
            <a:r>
              <a:rPr lang="en-US" sz="1000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.copyOf</a:t>
            </a: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(a, </a:t>
            </a:r>
            <a:r>
              <a:rPr lang="en-US" sz="10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</a:t>
            </a: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[10,20,30]</a:t>
            </a:r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 err="1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Arrays</a:t>
            </a:r>
            <a:r>
              <a:rPr lang="en-US" sz="1000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.copyOf</a:t>
            </a: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(a, </a:t>
            </a:r>
            <a:r>
              <a:rPr lang="en-US" sz="10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</a:t>
            </a: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[10,20,30,40,50,0,0]</a:t>
            </a:r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 err="1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Arrays</a:t>
            </a:r>
            <a:r>
              <a:rPr lang="en-US" sz="1000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.copyOfRange</a:t>
            </a: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(a, </a:t>
            </a:r>
            <a:r>
              <a:rPr lang="en-US" sz="10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</a:t>
            </a: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[20,30,40]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880360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880360"/>
            <a:ext cx="416052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9718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Arrays.equals() / deepEquals()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329184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content, not memory addresses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3538728"/>
            <a:ext cx="3977640" cy="11155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566160"/>
            <a:ext cx="3794760" cy="11612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a={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 b={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== b           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false (diff addresses!)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 err="1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Arrays</a:t>
            </a:r>
            <a:r>
              <a:rPr lang="en-US" sz="1050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.equals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(a, b) 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true  ✓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2D arrays: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 err="1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Arrays</a:t>
            </a:r>
            <a:r>
              <a:rPr lang="en-US" sz="1050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.deepEquals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(m1, m2) 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use this!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17720" y="2880360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17720" y="2880360"/>
            <a:ext cx="416052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29718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Arrays.toString() / deepToString()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09160" y="329184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arrays as readable strings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3538728"/>
            <a:ext cx="3977640" cy="11155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3630168"/>
            <a:ext cx="3794760" cy="9601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nums = {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 err="1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050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.out.println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(nums);</a:t>
            </a:r>
            <a:r>
              <a:rPr lang="en-US" sz="1050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// [I@1b6d...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 err="1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Arrays</a:t>
            </a:r>
            <a:r>
              <a:rPr lang="en-US" sz="1050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.toString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(nums);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[5, 10, 15]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For 2D: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 err="1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Arrays</a:t>
            </a:r>
            <a:r>
              <a:rPr lang="en-US" sz="1050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.deepToString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(matrix);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[[1,2],[3,4]]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" y="4828032"/>
            <a:ext cx="8503920" cy="256032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846320"/>
            <a:ext cx="8275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NEVER use == to compare arrays! It compares memory addresses. Two identical arrays at different locations will return false. Always use Arrays.equals() for 1D, Arrays.deepEquals() for 2D.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· Multidimensional Arrays — 2D Arrays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20040" y="8412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Declaration, Access &amp; Traversal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846320" cy="230428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98448"/>
            <a:ext cx="4572000" cy="21762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Declaration: 3 rows, 4 columns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[][] matrix = </a:t>
            </a: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int[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Inline initialization: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[][] grid =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row 0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row 1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 </a:t>
            </a: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row 2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grid[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 </a:t>
            </a: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7 (row1, col2)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grid.length     </a:t>
            </a: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3 (rows)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grid[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].length  </a:t>
            </a: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4 (columns)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349240" y="8412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 Grid Layout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49240" y="1207008"/>
            <a:ext cx="704088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49240" y="1207008"/>
            <a:ext cx="704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207008"/>
            <a:ext cx="704088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207008"/>
            <a:ext cx="704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03720" y="1207008"/>
            <a:ext cx="704088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03720" y="1207008"/>
            <a:ext cx="704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680960" y="1207008"/>
            <a:ext cx="704088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0" y="1207008"/>
            <a:ext cx="704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503920" y="1207008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[0]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49240" y="1755648"/>
            <a:ext cx="704088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49240" y="1755648"/>
            <a:ext cx="704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26480" y="1755648"/>
            <a:ext cx="704088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1755648"/>
            <a:ext cx="704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903720" y="1755648"/>
            <a:ext cx="704088" cy="475488"/>
          </a:xfrm>
          <a:prstGeom prst="rect">
            <a:avLst/>
          </a:prstGeom>
          <a:solidFill>
            <a:srgbClr val="FFF1F2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03720" y="1755648"/>
            <a:ext cx="704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680960" y="1755648"/>
            <a:ext cx="704088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80960" y="1755648"/>
            <a:ext cx="704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503920" y="1755648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349240" y="2304288"/>
            <a:ext cx="704088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49240" y="2304288"/>
            <a:ext cx="704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26480" y="2304288"/>
            <a:ext cx="704088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2304288"/>
            <a:ext cx="704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903720" y="2304288"/>
            <a:ext cx="704088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03720" y="2304288"/>
            <a:ext cx="704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680960" y="2304288"/>
            <a:ext cx="704088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80960" y="2304288"/>
            <a:ext cx="704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503920" y="2304288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367528" y="28986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[0]      [1]      [2]      [3]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49240" y="3200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grid[1][2] = 7  ← highlighted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20040" y="343814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Nested Loop Traversal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20040" y="3730752"/>
            <a:ext cx="4846320" cy="127101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3867912"/>
            <a:ext cx="4617720" cy="10698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row=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row&lt;grid.length; row++)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col=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col&lt;grid[row].length; col++)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.out.print(grid[row][col] + "\t");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349240" y="3538728"/>
            <a:ext cx="3429000" cy="146304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40680" y="359359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Analogy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440680" y="3895344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2D array is like a spreadsheet — rows and columns. seat[2][3] = Row 2, Column 3. Internally Java stores it as an array of array references — each row is its own array object on the heap.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· Jagged (Ragged) Arrays &amp; 3D Arrays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20040" y="8686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Jagged Arrays — Rows of different lengths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4206240" cy="22402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35024"/>
            <a:ext cx="3977640" cy="2057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Each student took different # of subjects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[][] marks = </a:t>
            </a: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int[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][];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marks[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</a:t>
            </a: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int[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5 subjects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marks[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</a:t>
            </a: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int[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3 subjects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Traverse with variable column count: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i=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i&lt;marks.length; i++)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j=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50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j&lt;marks[i].length; j++)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← variable length per row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3520440"/>
            <a:ext cx="4206240" cy="50292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56616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jagged arrays for: Pascal's triangle, adjacency lists in graphs, exam marks where students took different subjects.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617720" y="86868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3D Arrays — Array of 2D arrays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17720" y="1207008"/>
            <a:ext cx="4160520" cy="1594381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335024"/>
            <a:ext cx="3931920" cy="1484653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 buildings, 3 floors, 4 rooms each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[][][] buildings = </a:t>
            </a: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int[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building[0], floor[1], room[2]: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buildings[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Real-life: Full HD image (RGB pixels)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[][][] image = </a:t>
            </a: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int[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1080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1920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image[row][col][0=R, 1=G, 2=B]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17720" y="2892829"/>
            <a:ext cx="4160520" cy="1130531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17720" y="2904467"/>
            <a:ext cx="416052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96099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Dimension rules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09160" y="3235314"/>
            <a:ext cx="3977640" cy="760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arr.length = size of outermost dimension (rows)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arr[i].length = size of row i (columns)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arr[i][j].length = depth at row i, col j (for 3D)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4114800"/>
            <a:ext cx="8503920" cy="86868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160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F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Analogy (Jagged)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444398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theater with different seat counts per row. Row 0 (front) might have 10 seats, row 1 has 12, row 5 (back, curved) has 20. A rectangular 2D array would waste memory for the shorter rows.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 · Arrays as Objects — Reference Semantics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20040" y="8412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2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Assignment Copies the Reference (Not the Data!)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846320" cy="1508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98448"/>
            <a:ext cx="4617720" cy="13441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original = {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alias = original;  </a:t>
            </a:r>
            <a:r>
              <a:rPr lang="en-US" sz="1050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SAME array!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alias[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999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original[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 </a:t>
            </a:r>
            <a:r>
              <a:rPr lang="en-US" sz="1050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999 !! Both affected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True copy — use Arrays.copyOf():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trueCopy = Arrays</a:t>
            </a:r>
            <a:r>
              <a:rPr lang="en-US" sz="10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.copyOf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(original, original.length);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277063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2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Passing Arrays to Methods — Pass by Reference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3108960"/>
            <a:ext cx="4846320" cy="1508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218688"/>
            <a:ext cx="4617720" cy="13441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void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doubleAll(</a:t>
            </a: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arr)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i=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i&lt;arr.length; i++)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arr[i] *= 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</a:t>
            </a:r>
            <a:r>
              <a:rPr lang="en-US" sz="1050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modifies original!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data = {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  doubleAll(data);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Arrays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.toString(data);</a:t>
            </a: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[2, 4, 6]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349240" y="841248"/>
            <a:ext cx="3429000" cy="1828800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49240" y="841248"/>
            <a:ext cx="3429000" cy="54864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40680" y="905256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⚠️  Common Pitfall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40680" y="1261872"/>
            <a:ext cx="3246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int[] b = a;  does NOT create a new array.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creates a second variable pointing to the SAME heap object.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Modifying b modifies a too!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causes hard-to-find bugs.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349240" y="2743200"/>
            <a:ext cx="3429000" cy="1682496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49240" y="2743200"/>
            <a:ext cx="342900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40680" y="280720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F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Returning Arrays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40680" y="3172968"/>
            <a:ext cx="3246120" cy="112928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7840" y="3273552"/>
            <a:ext cx="2999232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int</a:t>
            </a: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squares(</a:t>
            </a:r>
            <a:r>
              <a:rPr lang="en-US" sz="9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n) {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</a:t>
            </a: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r = </a:t>
            </a:r>
            <a:r>
              <a:rPr lang="en-US" sz="9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int[n];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</a:t>
            </a: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(int i=0; i&lt;n; i++)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r[i]=(i+</a:t>
            </a:r>
            <a:r>
              <a:rPr lang="en-US" sz="9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)*(i+</a:t>
            </a:r>
            <a:r>
              <a:rPr lang="en-US" sz="9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</a:t>
            </a: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r;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4690872"/>
            <a:ext cx="850392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709160"/>
            <a:ext cx="8275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Primitives (int, double...) are passed by VALUE — a copy is made. Arrays (objects) are passed by REFERENCE — the method receives the original memory address and can modify the original.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 · Searching — Linear Search vs Binary Search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20040" y="841248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F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Linear Search — O(n)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160520" cy="1521229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98448"/>
            <a:ext cx="3931920" cy="1411501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int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linearSearch(</a:t>
            </a: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arr, </a:t>
            </a: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target)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i=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i&lt;arr.length; i++)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(arr[i] == target)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i;  </a:t>
            </a: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found — return index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</a:t>
            </a: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-1 = not found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0" y="84124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Binary Search — O(log n)  [array must be sorted!]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1188720"/>
            <a:ext cx="4251960" cy="160435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1298448"/>
            <a:ext cx="4023360" cy="1411501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int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binarySearch(</a:t>
            </a: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arr, </a:t>
            </a: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target)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lo=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hi=arr.length-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(lo &lt;= hi)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mid = lo+(hi-lo)/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(arr[mid]==target) </a:t>
            </a: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mid;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if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(arr[mid]&lt;target) lo=mid+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hi=mid-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 return -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</a:t>
            </a: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not found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0040" y="278060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Comparison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8963725"/>
              </p:ext>
            </p:extLst>
          </p:nvPr>
        </p:nvGraphicFramePr>
        <p:xfrm>
          <a:off x="320040" y="3100648"/>
          <a:ext cx="8503920" cy="18135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Search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Search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 on unsorted?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 — must sort first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complexity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case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— first element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— middle is 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 case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 — last / not found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Space complexity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Practical for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/ unsorted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sorted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 · Sorting Algorithms — Bubble, Selection &amp; Insertion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92608" y="841248"/>
            <a:ext cx="2834640" cy="2542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" y="841248"/>
            <a:ext cx="2834640" cy="5486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9144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D2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Bubble Sort — O(n²)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84048" y="12344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adjacent, swap if out of order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4048" y="1481328"/>
            <a:ext cx="2651760" cy="18288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572768"/>
            <a:ext cx="2487168" cy="16642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i=0; i&lt;n-1; i++) {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boolean swapped = false;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(int j=0; j&lt;n-i-1; j++) {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(arr[j] &gt; arr[j+1]) {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int t=arr[j]; arr[j]=arr[j+1];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arr[j+1]=t; swapped=true;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(!swapped) break; // early exit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36976" y="841248"/>
            <a:ext cx="2834640" cy="2542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36976" y="841248"/>
            <a:ext cx="283464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9144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Selection Sort — O(n²)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328416" y="12344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minimum, swap to correct position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28416" y="1481328"/>
            <a:ext cx="2651760" cy="18288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19856" y="1572768"/>
            <a:ext cx="2487168" cy="16642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i=0; i&lt;n-1; i++) {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minIdx = i;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(int j=i+1; j&lt;n; j++) {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(arr[j] &lt; arr[minIdx])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minIdx = j;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swap minimum to position i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t=arr[minIdx]; arr[minIdx]=arr[i];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arr[i]=t;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81344" y="841248"/>
            <a:ext cx="2834640" cy="2542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81344" y="841248"/>
            <a:ext cx="2834640" cy="54864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72784" y="9144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65F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Insertion Sort — O(n) best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272784" y="12344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each element in its correct position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72784" y="1481328"/>
            <a:ext cx="2651760" cy="18288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64224" y="1572768"/>
            <a:ext cx="2487168" cy="16642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i=1; i&lt;n; i++) {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key = arr[i];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j = i - 1;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 (j&gt;=0 &amp;&amp; arr[j]&gt;key) {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arr[j+1] = arr[j];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j--;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arr[j+1] = key; // insert here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Best for nearly-sorted data!</a:t>
            </a:r>
            <a:endParaRPr lang="en-US" sz="9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2608" y="3520440"/>
          <a:ext cx="8558784" cy="1005840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838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when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Bubble Sort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Teaching / demo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Selection Sort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Minimise swaps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Insertion Sort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Nearly sorted / n&lt;20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292608" y="4846320"/>
            <a:ext cx="8558784" cy="256032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29768" y="486460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 production always use Arrays.sort() — Dual-Pivot Quicksort O(n log n) for primitives, TimSort O(n log n) for objects.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· Essential Programs — Max/Min &amp; Reverse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20040" y="84124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F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Find Maximum &amp; Minimum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206240" cy="185373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98448"/>
            <a:ext cx="3977640" cy="174401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temps = {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start with first element as reference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max=temps[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min=temps[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 : temps)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(t &gt; max) max = t;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(t &lt; min) min = t;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Max: 45  Min: 17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3153013"/>
            <a:ext cx="4206240" cy="45720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189589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Always initialise max/min to arr[0], never to 0 — the array could contain all negative numbers.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17720" y="841248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Reverse an Array — In-Place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17720" y="1188720"/>
            <a:ext cx="4160520" cy="199339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298448"/>
            <a:ext cx="3931920" cy="18603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q = {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left=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right=q.length-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(left &lt; right)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temp = q[left];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q[left] = q[right];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q[right] = temp;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left++; right--;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[5, 4, 3, 2, 1]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17720" y="3227831"/>
            <a:ext cx="4160520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3264407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Two-pointer technique: swap outermost elements and move pointers inward. O(n/2) swaps, O(1) space — no extra array needed.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" y="368419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2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Find Duplicates — Sort First Approach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4004238"/>
            <a:ext cx="8503920" cy="97508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095678"/>
            <a:ext cx="8275320" cy="91107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int[] voterIDs = {101, 203, 305, 101, 402, 203};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Arrays.sort(voterIDs);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i=0; i&lt;voterIDs.length-1; i++)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(voterIDs[i]==voterIDs[i+1]) System.out.println("Duplicate: " + voterIDs[i]);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· Essential Programs — Rotate &amp; Merge Sorted Arrays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20040" y="84124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Right Rotate by k Positions — Three-Reverse Algorithm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8503920" cy="17830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98448"/>
            <a:ext cx="8275320" cy="16276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void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rotateRight(</a:t>
            </a: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arr, </a:t>
            </a: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k)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 = arr.length;  k = k % n;  </a:t>
            </a: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handle k &gt; n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reverse(arr, 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n-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</a:t>
            </a: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Step 1: reverse entire array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reverse(arr, 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k-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 </a:t>
            </a: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Step 2: reverse first k elements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reverse(arr, k, n-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 </a:t>
            </a: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Step 3: reverse remaining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   </a:t>
            </a: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e.g. {1,2,3,4,5} rotateRight by 2 → {4,5,1,2,3}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30632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F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Merge Two Sorted Arrays — O(n+m)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3410712"/>
            <a:ext cx="8503920" cy="16276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520440"/>
            <a:ext cx="827532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int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mergeSorted(</a:t>
            </a: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a, </a:t>
            </a: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b)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result = </a:t>
            </a: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int[a.length + b.length];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i=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j=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k=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(i&lt;a.length &amp;&amp; j&lt;b.length)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(a[i] &lt;= b[j]) result[k++]=a[i++];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result[k++]=b[j++];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 </a:t>
            </a: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(i&lt;a.length) result[k++]=a[i++];  </a:t>
            </a: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(j&lt;b.length) result[k++]=b[j++];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result;    </a:t>
            </a: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{1,3,5} + {2,4,6} → [1,2,3,4,5,6]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 · Arrays vs ArrayList — When to Use Which</a:t>
            </a:r>
            <a:endParaRPr lang="en-US" sz="2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22960"/>
          <a:ext cx="8503920" cy="25908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ArrayList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at creation — cannot change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— grows/shrinks automatically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Syntax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int[] arr = new int[5]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ArrayList&lt;Integer&gt; list = new ArrayList&lt;&gt;()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Primitives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Supports int, char, double...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Only wrapper types: Integer, Double...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 — direct memory access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Slightly slower — boxing/unboxing overhead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Multi-dimensional (2D, 3D) built-in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 List&lt;List&lt;T&gt;&gt; for 2D — clunky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generic — no type safety check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 generic — compile-time type safety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Length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arr.length (field, no parens)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list.size() (method call, with parens)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 elements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when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 known, performance critical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 unknown, frequent add/remove needed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20040" y="4663440"/>
            <a:ext cx="4160520" cy="38404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470001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 Array: pixel grids, fixed lookup tables, binary search on known data.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617720" y="4663440"/>
            <a:ext cx="420624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54880" y="4700016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 ArrayList: user input lists, dynamic queues, growing datasets.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 · Common Exceptions &amp; Pitfalls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92608" y="822960"/>
            <a:ext cx="2834640" cy="4178808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" y="822960"/>
            <a:ext cx="2834640" cy="54864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8869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9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ArrayIndexOutOfBoundsException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" y="135331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Accessing index &lt; 0 or &gt;= length at RUNTIME (not compile time)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84048" y="1938528"/>
            <a:ext cx="2651760" cy="29718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2029968"/>
            <a:ext cx="2487168" cy="2816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int[] arr = {10, 20, 30};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arr[3]     // ✗ valid: 0,1,2 only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arr[-1]    // ✗ no negative indices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arr[arr.length] // ✗ use arr.length-1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Classic off-by-one loop: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i=0; i&lt;=arr.length; i++) </a:t>
            </a:r>
          </a:p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950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</a:t>
            </a: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[i]; // crashes on last pass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36976" y="822960"/>
            <a:ext cx="2834640" cy="4178808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36976" y="822960"/>
            <a:ext cx="2834640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8869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453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NullPointerException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28416" y="135331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methods on uninitialised array elements (String arrays default to null)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28416" y="1938528"/>
            <a:ext cx="2651760" cy="29718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19856" y="2029968"/>
            <a:ext cx="2487168" cy="2816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String[] names = new String[3]; // [null,null,null]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names[0].length(); // ✗ NPE!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Fix: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(names[0] != null) names[0].length();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Also 2D: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int[][] grid = new int[3][];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grid[0][0] = 5;  // ✗ NPE: row not init'd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grid[0] = new int[4];  grid[0][0]=5; // ✓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81344" y="822960"/>
            <a:ext cx="2834640" cy="417880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81344" y="822960"/>
            <a:ext cx="2834640" cy="54864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72784" y="8869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65F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NegativeArraySizeException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72784" y="135331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an array with a negative size value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72784" y="1938528"/>
            <a:ext cx="2651760" cy="29718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64224" y="2029968"/>
            <a:ext cx="2487168" cy="2816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n = -5;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int[] arr = new int[n]; // ✗ throws!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Always validate before creating: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(n &gt; 0) {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int[] arr2 = new int[n]; // ✓ safe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92608" y="5029200"/>
            <a:ext cx="8558784" cy="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 · Advanced Concepts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92608" y="822960"/>
            <a:ext cx="4206240" cy="199339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" y="822960"/>
            <a:ext cx="420624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89611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clone() — Shallow Copy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" y="1261872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implement Cloneable. clone() copies values for primitives but copies references for objects (shallow). Use Arrays.copyOf() for more control.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4048" y="1874520"/>
            <a:ext cx="4023360" cy="8869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956816"/>
            <a:ext cx="3840480" cy="7498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int[] a={1,2,3};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int[] b=a.clone();// independent copy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b[0]=99;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a[0] // → 1 ✓ unaffected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822960"/>
            <a:ext cx="4206240" cy="1993392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822960"/>
            <a:ext cx="4206240" cy="54864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89611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Array Covariance — Design Quirk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09160" y="1261872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are covariant: Dog[] is a subtype of Animal[]. This compiles but can throw ArrayStoreException at runtime when wrong type stored.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1874520"/>
            <a:ext cx="4023360" cy="8869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956816"/>
            <a:ext cx="3840480" cy="7498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String[] s = new String[3];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Object[] o = s;  // compiles!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o[0] = 42; // RUNTIME ERROR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ArrayStoreException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92608" y="2926080"/>
            <a:ext cx="4206240" cy="1993392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2608" y="2926080"/>
            <a:ext cx="4206240" cy="5486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99923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2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Anonymous Arrays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4048" y="3364992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without a named variable — useful for passing directly to methods without an intermediate variable.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84048" y="3977640"/>
            <a:ext cx="4023360" cy="8869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4059936"/>
            <a:ext cx="3840480" cy="7498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Pass directly without naming: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printMax(new int[]{100,200,50});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2D anonymous: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process(new int[][]{{1,2},{3,4}});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17720" y="2926080"/>
            <a:ext cx="4206240" cy="199339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17720" y="2926080"/>
            <a:ext cx="4206240" cy="54864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299923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F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System.arraycopy() — Fastest Copy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09160" y="3364992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JVM method — fastest way to copy large arrays. Used internally by ArrayList. Signature: (src, srcPos, dest, destPos, length).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3977640"/>
            <a:ext cx="4023360" cy="8869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4059936"/>
            <a:ext cx="3840480" cy="7498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int[] src={1,2,3,4,5};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int[] dst=new int[5];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System.arraycopy(src,1,dst,0,3);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dst → [2, 3, 4, 0, 0]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92608" y="4983480"/>
            <a:ext cx="8558784" cy="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 · Top 10 Interview Questions &amp; Answers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92608" y="868680"/>
            <a:ext cx="4206240" cy="7772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" y="868680"/>
            <a:ext cx="64008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0525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Q1. int[] a vs int a[]?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valid. int[] a is preferred — makes 'int array' the type clearly. int a[] is legacy C-style syntax. Functionally identical.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92608" y="1709928"/>
            <a:ext cx="4206240" cy="777240"/>
          </a:xfrm>
          <a:prstGeom prst="rect">
            <a:avLst/>
          </a:prstGeom>
          <a:solidFill>
            <a:srgbClr val="F8FAFF"/>
          </a:solidFill>
          <a:ln w="12700">
            <a:solidFill>
              <a:srgbClr val="D1EC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" y="1709928"/>
            <a:ext cx="64008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4650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Q2. Can arrays store primitives &amp; objects?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029968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any single type. int[] for primitives, String[] for objects. One array holds only ONE data type.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92608" y="2551176"/>
            <a:ext cx="4206240" cy="7772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" y="2551176"/>
            <a:ext cx="64008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58775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Q3. Maximum size of an array?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2871216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Integer.MAX_VALUE = 2,147,483,647 (~2 billion). Practical limit = available heap memory.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92608" y="3392424"/>
            <a:ext cx="4206240" cy="777240"/>
          </a:xfrm>
          <a:prstGeom prst="rect">
            <a:avLst/>
          </a:prstGeom>
          <a:solidFill>
            <a:srgbClr val="F8FAFF"/>
          </a:solidFill>
          <a:ln w="12700">
            <a:solidFill>
              <a:srgbClr val="D1EC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2608" y="3392424"/>
            <a:ext cx="64008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4290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Q4. Why zero-based indexing?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3712464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Inherited from C: index = memory offset from base. Index 0 = 0 bytes offset = first element.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92608" y="4233672"/>
            <a:ext cx="4206240" cy="7772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2608" y="4233672"/>
            <a:ext cx="64008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27024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Q5. Sort descending order?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4553712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Integer[] (wrapper, not int[]) then Arrays.sort(arr, Collections.reverseOrder()) or comparator (a,b) -&gt; b-a.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36008" y="868680"/>
            <a:ext cx="4206240" cy="7772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36008" y="868680"/>
            <a:ext cx="64008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90525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Q6. Can array size increase after declaration?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00600" y="1188720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arrays are fixed. Create a larger array and use Arrays.copyOf() or System.arraycopy() to copy elements. Exactly what ArrayList does internally.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36008" y="1709928"/>
            <a:ext cx="4206240" cy="777240"/>
          </a:xfrm>
          <a:prstGeom prst="rect">
            <a:avLst/>
          </a:prstGeom>
          <a:solidFill>
            <a:srgbClr val="F8FAFF"/>
          </a:solidFill>
          <a:ln w="12700">
            <a:solidFill>
              <a:srgbClr val="D1EC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36008" y="1709928"/>
            <a:ext cx="64008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174650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Q7. Print an array directly?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00600" y="2029968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System.out.println(arr) prints a cryptic memory address like [I@1a2b3c. Always use Arrays.toString(arr).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36008" y="2551176"/>
            <a:ext cx="4206240" cy="7772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36008" y="2551176"/>
            <a:ext cx="64008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258775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Q8. What is a jagged array?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00600" y="2871216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of unequal length. Uses: marks for students with different subject counts, Pascal's triangle, graph adjacency lists.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636008" y="3392424"/>
            <a:ext cx="4206240" cy="777240"/>
          </a:xfrm>
          <a:prstGeom prst="rect">
            <a:avLst/>
          </a:prstGeom>
          <a:solidFill>
            <a:srgbClr val="F8FAFF"/>
          </a:solidFill>
          <a:ln w="12700">
            <a:solidFill>
              <a:srgbClr val="D1EC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36008" y="3392424"/>
            <a:ext cx="64008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34290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Q9. clone() vs Arrays.copyOf()?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800600" y="3712464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clone() always copies the full array (same length). Arrays.copyOf() can truncate or pad with 0s to any desired length.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636008" y="4233672"/>
            <a:ext cx="4206240" cy="7772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36008" y="4233672"/>
            <a:ext cx="64008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427024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Q10. What is ArrayStoreException?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800600" y="4553712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Thrown when storing an incompatible type in a covariant array. E.g. storing Integer in String[] referenced as Object[].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 · Quick Reference Cheat Sheet — All Operations</a:t>
            </a:r>
            <a:endParaRPr lang="en-US" sz="21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2608" y="822960"/>
          <a:ext cx="8558784" cy="2994660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323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Operation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Code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Operation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Code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Declare + create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int[] arr = new int[n];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Sort ascending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Arrays.sort(arr)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Declare + init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int[] arr = {1, 2, 3};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Sort descending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Arrays.sort(wArr, Collections.reverseOrder())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Access element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arr[i]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Binary search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Arrays.binarySearch(arr, key)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First element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arr[0]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Fill with value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Arrays.fill(arr, val)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Last element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arr[arr.length - 1]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Copy full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Arrays.copyOf(arr, arr.length)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 length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arr.length  (no parens!)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Copy partial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Arrays.copyOfRange(arr, from, to)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Print 1D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Arrays.toString(arr)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Compare content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Arrays.equals(a, b)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Print 2D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Arrays.deepToString(arr)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Compare 2D content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Arrays.deepEquals(a, b)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Fast copy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System.arraycopy(src,srcPos,dest,destPos,len)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Convert to List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Arrays.asList(arr)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92608" y="4681728"/>
            <a:ext cx="8558784" cy="36576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29768" y="4700016"/>
            <a:ext cx="8302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Always import java.util.Arrays for utility methods  |  Never use == for arrays — use Arrays.equals()  |  Binary search requires sorted array  |  Use Arrays.toString() not System.out.println() for printing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Arrays in Java — 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Fundamentals | OOP Series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16736"/>
            <a:ext cx="402336" cy="402336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16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170432"/>
            <a:ext cx="349300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are fixed-size, zero-indexed, homogeneous collections stored contiguously in heap memory.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029968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231136"/>
            <a:ext cx="402336" cy="402336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2311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084832"/>
            <a:ext cx="349300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variable lives on Stack; actual array data lives on Heap. Assignment copies the reference, not the data.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944368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3145536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145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2999232"/>
            <a:ext cx="349300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initialization styles — use array literals {1,2,3} when values are known; runtime sizing for dynamic input.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858768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4059936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40599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3913632"/>
            <a:ext cx="349300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java.util.Arrays provides sort(), binarySearch(), fill(), copyOf(), equals(), toString() — always import it.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1115568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1316736"/>
            <a:ext cx="402336" cy="40233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316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57800" y="1170432"/>
            <a:ext cx="349300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arrays = array of arrays. Each row can have different length (jagged). Use arr.length for rows, arr[i].length for columns.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2029968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2231136"/>
            <a:ext cx="402336" cy="402336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2311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57800" y="2084832"/>
            <a:ext cx="349300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vs ArrayList: use arrays when size is fixed and performance matters; ArrayList when size changes at runtime.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2944368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3145536"/>
            <a:ext cx="402336" cy="402336"/>
          </a:xfrm>
          <a:prstGeom prst="ellipse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145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257800" y="2999232"/>
            <a:ext cx="349300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pitfalls: ArrayIndexOutOfBoundsException (index ≥ length), NullPointerException (uninitialized elements), never use == for comparison.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63440" y="3858768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4059936"/>
            <a:ext cx="402336" cy="402336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40599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⑧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257800" y="3913632"/>
            <a:ext cx="349300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Advanced: clone() for shallow copy, System.arraycopy() for fastest copy, covariant arrays can cause ArrayStoreException.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D1E8F0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Applications  |  GLA University, Mathura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1056</TotalTime>
  <Words>5445</Words>
  <Application>Microsoft Macintosh PowerPoint</Application>
  <PresentationFormat>On-screen Show (16:9)</PresentationFormat>
  <Paragraphs>710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Arrays in Java — Comprehensive Notes</dc:title>
  <dc:subject>PptxGenJS Presentation</dc:subject>
  <dc:creator>Dr. Arun Singh Yadav</dc:creator>
  <cp:lastModifiedBy>Microsoft Office User</cp:lastModifiedBy>
  <cp:revision>5</cp:revision>
  <dcterms:created xsi:type="dcterms:W3CDTF">2026-06-08T00:33:26Z</dcterms:created>
  <dcterms:modified xsi:type="dcterms:W3CDTF">2026-06-10T03:22:53Z</dcterms:modified>
</cp:coreProperties>
</file>