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3217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572000" cy="457200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828800" y="77724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Operators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828800" y="2240280"/>
            <a:ext cx="5029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for BCA Students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 ·  Arithmetic  ·  Shift  ·  Bitwise  ·  Relational  ·  Logical  ·  Ternary  ·  Assignment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 University, Mathura  |  Java Programming (BCA)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 in This Presentation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41248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41248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896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3167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++, --, ~, 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865376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865376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865376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3408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+, -, *, /, %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889504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9504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889504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29443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364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&lt;&lt;, &gt;&gt;, &gt;&gt;&gt;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913632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913632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913632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68680" y="3968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Operators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389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&amp;&amp;, &amp;, ||, |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841248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841248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841248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303520" y="8961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Operators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0" y="13167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==, !=, &gt;, &lt;, &gt;=, &lt;=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1865376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865376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865376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23408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&amp;&amp;, ||, !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09160" y="2889504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889504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889504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303520" y="294436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03520" y="3364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=, +=, -=, *=, /=, %=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709160" y="3913632"/>
            <a:ext cx="4251960" cy="8869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913632"/>
            <a:ext cx="548640" cy="8869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913632"/>
            <a:ext cx="54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303520" y="3968496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&amp; instanceof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03520" y="43891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? a : b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  |  Overview &amp; ++ / -- Example 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 – Quick Reference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3840480" cy="185928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 Plus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stays positive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 Minus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sign of expression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value by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Decreases value by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 Compl.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Flips all bits: ~a = -(a+1)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NOT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boolean: !true = 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post-increment: use THEN increment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System.out.println(x++); // 10, x→11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pre-increment: increment THEN use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System.out.println(++x); // 12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post-decrement: use THEN decrement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System.out.println(x--); // 12, x→11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pre-decrement: decrement THEN use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System.out.println(--x); // 10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  |  ++ and -- in Expressions (Example 2)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Expression:  a++ + ++a   (a = 10)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a++ → returns 10,  then a becomes 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++a → a becomes 12, returns 12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Result: 10 + 12 = 22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Expression:  b++ + b++   (b = 10)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b++ → returns 10,  then b becomes 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b++ → returns 11,  then b becomes 12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Result: 10 + 11 = 21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Post (a++): current value used FIRST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 (++a):  increment THEN use value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891333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52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a++ returns 10, then ++a gives 12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System.out.println(a++ + ++a); //22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b++ returns 10, then b++ gives 11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System.out.println(b++ + b++); //21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549701"/>
            <a:ext cx="4617720" cy="1360627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549701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549701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824021"/>
            <a:ext cx="4389120" cy="104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Unary Operators  |  Bitwise Complement ~ and Logical NOT 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Bitwise Complement  and  ! Logical NOT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(Bitwise Complement):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Flips ALL bits of the integer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Formula:  ~a  =  -(a + 1)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~10   = -(10+1) = -11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~(-10)= -(-10+1)=  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(Logical NOT):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Inverts the boolean value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!true  →  false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!false →  true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~ works on int/long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! works on boolean only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   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    = -10;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c = true;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d = false;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System.out.println(~a); // -11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System.out.println(~b); //  9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System.out.println(!c);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System.out.println(!d);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 |  +  -  *  /  %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(a=10, b=5)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3794760" cy="146304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-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*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%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636215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53712" y="960120"/>
            <a:ext cx="4389120" cy="22704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= 5;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+ b); // 15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- b); // 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* b); // 50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/ b); // 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% b); // 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16552" y="3294583"/>
            <a:ext cx="4617720" cy="1615745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16552" y="3294583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3294583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53712" y="3568903"/>
            <a:ext cx="4389120" cy="1295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 |  Operator Precedence in Expressions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 (BODMAS)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precedence operators evaluated first: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Level 1 (highest): *, /, %  (left to right)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Level 2           : +, -    (left to right)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Evaluating: 10*10/5 + 3 - 1*4/2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1: 10 * 10 = 100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2: 100 / 5 = 20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3:  1 * 4  = 4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4:  4 / 2  = 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5: 20 + 3 - 2 = 21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parentheses ( ) to force order of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when needed.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3061411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69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10*10 = 100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100/5 = 20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1*4   = 4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4/2   = 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20+3-2= 21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10*10/5 + 3 - 1*4/2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719779"/>
            <a:ext cx="4617720" cy="1190549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719779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719779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994099"/>
            <a:ext cx="4389120" cy="870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  |  Left Shift  &lt;&lt;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Shift Operator  &lt;&lt;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value &lt;&lt; 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ALL bits to the LEFT by n positions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to: value × 2ⁿ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illustration (10 &lt;&lt; 2):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= 0000 1010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&lt;&lt;2 = 0010 1000 = 40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n &lt;&lt; k  =  n × 2ᵏ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&lt;&lt; 2 = 10 × 4   = 40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&lt;&lt; 3 = 10 × 8   = 80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 &lt;&lt; 2 = 20 × 4   = 80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15 &lt;&lt; 4 = 15 × 16  = 240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 &lt;&lt; k  =  n * 2^k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System.out.println(10&lt;&lt;2); //10*4 =40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System.out.println(10&lt;&lt;3); //10*8 =80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System.out.println(20&lt;&lt;2); //20*4 =80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System.out.println(15&lt;&lt;4); //15*16=240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  |  Right Shift  &gt;&gt;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Shift Operator  &gt;&gt;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value &gt;&gt; 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bits to the RIGHT by n positions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to: value ÷ 2ⁿ (integer division)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Sign-bit preserving: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Positive number → fills left bits with 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Negative number → fills left bits with 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n &gt;&gt; k  =  n ÷ 2ᵏ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10 &gt;&gt; 2 = 10 ÷ 4 = 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 &gt;&gt; 2 = 20 ÷ 4 = 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 &gt;&gt; 3 = 20 ÷ 8 = 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 &gt;&gt; k  =  n / 2^k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System.out.println(10&gt;&gt;2); //10/4=2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System.out.println(20&gt;&gt;2); //20/4=5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System.out.println(20&gt;&gt;3); //20/8=2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Operators  |  Signed &gt;&gt; vs Unsigned &gt;&gt;&gt;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(Signed)  vs  &gt;&gt;&gt; (Unsigned)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 (Signed Right Shift):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Preserves the sign bit (MSB)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Negative stays negative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-20 &gt;&gt; 2 = -5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 (Unsigned Right Shift):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Always fills leftmost bits with 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Negative becomes a large positive int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-20 &gt;&gt;&gt; 2 = 1073741819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POSITIVE numbers: &gt;&gt; and &gt;&gt;&gt; behave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identically (MSB is already 0):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 &gt;&gt; 2 = 20 &gt;&gt;&gt; 2 = 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Positive: same result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System.out.println(20&gt;&gt;2);    // 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System.out.println(20&gt;&gt;&gt;2);   // 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Negative: DIFFERENT result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System.out.println(-20&gt;&gt;2);   // -5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System.out.println(-20&gt;&gt;&gt;2);  // 1073741819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1073741819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Operators  |  Logical &amp;&amp; vs Bitwise &amp;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&amp;&amp; vs Bitwise &amp;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(Logical AND – Short-Circuit):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true only when BOTH sides are true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SHORT-CIRCUITS: if left is FALSE,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right side is NOT evaluated at all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(Bitwise AND):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Works on individual bits of integers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booleans: same result as &amp;&amp;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BUT always evaluates BOTH sides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&amp;&amp; for boolean conditions (efficient)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 &amp; when you NEED both sides to run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10, b = 5, c = 20;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false &amp;&amp; true =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System.out.println(a&lt;b &amp;&amp; a&lt;c);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false &amp;  true =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System.out.println(a&lt;b &amp;  a&lt;c);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Operators  |  Short-Circuit Side Effect Demo ( &amp;&amp; vs &amp; 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= Real Side Effect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&amp;&amp; (a=10, b=5, c=20):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a&lt;b is false → stops here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a++&lt;c is NEVER executed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 a stays at 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&amp; (a=10, b=5, c=20):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a&lt;b is false, BUT &amp; still checks right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a++&lt;c IS executed → a becomes 11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proves: &amp;&amp; skips right operand when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is false, but &amp; always evaluates both.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Use &amp;&amp; in if-conditions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avoid unintended side effects!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a=10, b=5, c=20;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System.out.println(a&lt;b&amp;&amp;a++&lt;c); //false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10 (no ++)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System.out.println(a&lt;b&amp;a++&lt;c);  //false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11 (++ ran!)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Operators  |  Logical || vs Bitwise |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|| vs Bitwise |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 (Logical OR – Short-Circuit):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true if EITHER side is true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SHORT-CIRCUITS: if left is TRUE,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right side is NOT evaluated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(Bitwise OR):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Always evaluates BOTH sides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(a=10, b=5, c=20):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a&gt;b || a++&lt;c → a&gt;b is true → a++ skipped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remains 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a&gt;b  | a++&lt;c → both sides run → a++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becomes 11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55117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a=10, b=5, c=20;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System.out.println(a&gt;b||a&lt;c);  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System.out.println(a&gt;b|a&lt;c);   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|| skips right when left=true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System.out.println(a&gt;b||a++&lt;c);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10 (skipped)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| always evaluates both sides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System.out.println(a&gt;b|a++&lt;c); 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11 (executed)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209544"/>
            <a:ext cx="4617720" cy="1700784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209544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2095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483864"/>
            <a:ext cx="438912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/ Comparison Operators  |  ==  !=  &gt;  &lt;  &gt;=  &lt;=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 (always return boolean)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3794760" cy="170688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op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Equal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==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!=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&gt;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&lt;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 or Equal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&gt;=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 or Equal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&lt;=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551176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0" name="Text 12"/>
          <p:cNvSpPr/>
          <p:nvPr/>
        </p:nvSpPr>
        <p:spPr>
          <a:xfrm>
            <a:off x="4553712" y="960120"/>
            <a:ext cx="438912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7, b = 11;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System.out.println("a="+a+" b="+b);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== b);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!= b);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&gt;  b);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&lt;  b);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&gt;= b);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 &lt;= b);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16552" y="3209544"/>
            <a:ext cx="4617720" cy="1700784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16552" y="3209544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3209544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53712" y="3483864"/>
            <a:ext cx="438912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a=7 b=11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 |  &amp;&amp;  ||  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 Reference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4206240" cy="9753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&amp;&amp; (AND)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BOTH are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(5&gt;3) &amp;&amp; (8&gt;5) =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 (OR)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if EITHER is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(5&lt;3) || (8&gt;5) =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 (NOT)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boolean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!(5==3)        = true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466137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53712" y="960120"/>
            <a:ext cx="4389120" cy="21003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&amp;&amp; (AND) operator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System.out.println((5&gt;3)&amp;&amp;(8&gt;5));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System.out.println((5&gt;3)&amp;&amp;(8&lt;5)); //false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|| (OR) operator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System.out.println((5&lt;3)||(8&gt;5));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System.out.println((5&gt;3)||(8&lt;5)); //true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System.out.println((5&lt;3)||(8&lt;5)); //false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! (NOT) operator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System.out.println(!(5==3)); // true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System.out.println(!(5&gt;3));  // false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0" name="Shape 13"/>
          <p:cNvSpPr/>
          <p:nvPr/>
        </p:nvSpPr>
        <p:spPr>
          <a:xfrm>
            <a:off x="4416552" y="3124505"/>
            <a:ext cx="4617720" cy="1785823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16552" y="3124505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3124505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53712" y="3398825"/>
            <a:ext cx="4389120" cy="1465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 |  =  +=  -=  *=  /=  %=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42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Reference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408176"/>
          <a:ext cx="3794760" cy="185928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Equivalent 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+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-=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-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*=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*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/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%=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%=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a %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 = 20;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+= 4; // a = 10 + 4 = 14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 -= 4; // b = 20 - 4 = 16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 // 14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System.out.println(b); // 16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0" name="Shape 14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Operators  |  Compound Assignment Chaining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Operators Step-by-Step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with:  int a = 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+= 3  →  a = 10 + 3  =  13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-= 4  →  a = 13 - 4  =  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*= 2  →  a =  9 × 2  =  18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/= 2  →  a = 18 ÷ 2  =  9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Rule for short / byte types: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short a=10, b=10;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+= b;   → OK (implicit cast included)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= a+b;  → COMPILE ERROR!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(10+10=20 is int; must cast: a=(short)(a+b))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10;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+= 3; // a = 10+3 = 13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-= 4; // a = 13-4 = 9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*= 2; // a = 9*2  = 18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/= 2; // a = 18/2 = 9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&amp; Decrement Operators  |  ++ and --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 ++ and Decrement --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 increases value by 1: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 num = 5; ++num; → num is now 6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Pre-increment  (++a):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Increment FIRST, then return value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a=12: result1 = ++a → a=13, result1=13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Post-increment (a++):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value FIRST, then increment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a=12: x = a++ → x=12, a=13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Pre-decrement  (--b):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Decrement FIRST, then return value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b=12: result2 = --b → b=11, result2=11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763774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3980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12, b = 12;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result1, result2;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System.out.println("Value of a: " + a);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result1 = ++a;  // pre-increment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System.out.println("After ++: "+result1);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System.out.println("Value of b: " + b);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result2 = --b;  // pre-decrement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System.out.println("After --: "+result2);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422142"/>
            <a:ext cx="4617720" cy="1488186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422142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22142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96462"/>
            <a:ext cx="4389120" cy="11681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of a: 12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++: 13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 of b: 12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--: 11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instanceof Operator  |  Type Checking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instanceof Operator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if an object belongs to a specific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or implements an interface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object instanceof ClassName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>
              <a:spcAft>
                <a:spcPts val="5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true  → object IS of that type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false → object is NOT of that type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>
              <a:spcAft>
                <a:spcPts val="5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Safe type-checking before casting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Avoids ClassCastException at runtime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>
              <a:spcAft>
                <a:spcPts val="500"/>
              </a:spcAft>
              <a:buSzPct val="100000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"Programiz" is a String object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 instanceof String  →  true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891333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52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str = "Programiz";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boolean result;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check if str is a String instance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str instanceof String;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"Is str a String? " + result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549701"/>
            <a:ext cx="4617720" cy="1360627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549701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549701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824021"/>
            <a:ext cx="4389120" cy="104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str a String? true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 |  Syntax and Minimum Value Examples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(Conditional) Operator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Java operator with 3 operands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replacement for if-then-else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variable = condition ? expr1 : expr2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condition is TRUE  → assigns expr1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condition is FALSE → assigns expr2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a=2, b=5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&lt; b is TRUE → min = a = 2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a=10, b=5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&lt; b is FALSE → min = b = 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3061411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6956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1: a=2, b=5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a=2, b=5;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min = (a&lt;b) ? a : b;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System.out.println(min); // 2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Example 2: a=10, b=5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OperatorExample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 args[])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a=10, b=5;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min = (a&lt;b) ? a : b;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System.out.println(min); // 5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719779"/>
            <a:ext cx="4617720" cy="1190549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719779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719779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994099"/>
            <a:ext cx="4389120" cy="8705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Operator  |  Real-World Example: Leap Year Check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658368"/>
            <a:ext cx="4160520" cy="4251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" y="658368"/>
            <a:ext cx="416052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" y="6583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" y="10241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 as if-else Replacement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" y="1408176"/>
            <a:ext cx="393192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if-else: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(februaryDays == 28)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result = "Not a leap year";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result = "Leap year";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ternary equivalent: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result = (februaryDays == 28)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? "Not a leap year"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: "Leap year";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(februaryDays = 29):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29 == 28 is FALSE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assigns second value: "Leap year"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16552" y="658368"/>
            <a:ext cx="4617720" cy="2891333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16552" y="658368"/>
            <a:ext cx="461772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658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PROGRAM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028432" y="658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53712" y="960120"/>
            <a:ext cx="4389120" cy="25255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Java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static void main(String[] args) {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februaryDays = 29;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result;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ternary operator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(februaryDays == 28)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? "Not a leap year"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: "Leap year";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System.out.println(result);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16552" y="3549701"/>
            <a:ext cx="4617720" cy="1360627"/>
          </a:xfrm>
          <a:prstGeom prst="rect">
            <a:avLst/>
          </a:prstGeom>
          <a:solidFill>
            <a:srgbClr val="0A1628"/>
          </a:solidFill>
          <a:ln w="12700">
            <a:solidFill>
              <a:srgbClr val="0D2D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16552" y="3549701"/>
            <a:ext cx="4617720" cy="246888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549701"/>
            <a:ext cx="4434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824021"/>
            <a:ext cx="4389120" cy="10405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Leap year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6217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0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Operators – Quick Reference Summary</a:t>
            </a:r>
            <a:endParaRPr lang="en-US" sz="2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68096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++, --, ~, !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operand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+, -, *, /, %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 calculations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&lt;&lt;, &gt;&gt;, &gt;&gt;&gt;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Bit-level shifting (multiply/divide by 2ⁿ)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/ 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&amp;&amp;, &amp;, ||, |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combining (short-circuit vs bitwise)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==, !=, &gt;, &lt;, &gt;=, &lt;=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values – always returns 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&amp;&amp;, ||, !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 logic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=, +=, -=, *=, /=, %=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/ compound-assign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 :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Inline if-else (3 operands)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79C0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instanceof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Type-checking an object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 University, Mathura  |  Java Programming – BCA  |  Thank You!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3918</Words>
  <Application>Microsoft Macintosh PowerPoint</Application>
  <PresentationFormat>On-screen Show (16:9)</PresentationFormat>
  <Paragraphs>773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Operators – BCA</dc:title>
  <dc:subject>PptxGenJS Presentation</dc:subject>
  <dc:creator>GLA University</dc:creator>
  <cp:lastModifiedBy>Microsoft Office User</cp:lastModifiedBy>
  <cp:revision>2</cp:revision>
  <dcterms:created xsi:type="dcterms:W3CDTF">2026-06-04T06:44:52Z</dcterms:created>
  <dcterms:modified xsi:type="dcterms:W3CDTF">2026-06-04T06:51:58Z</dcterms:modified>
</cp:coreProperties>
</file>