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37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36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91440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017520"/>
            <a:ext cx="3200400" cy="32004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4D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486400" cy="566928"/>
          </a:xfrm>
          <a:prstGeom prst="roundRect">
            <a:avLst>
              <a:gd name="adj" fmla="val 16129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889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0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 ·  super  ·  static  ·  final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45643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BA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· Multilevel · Hierarchical Inheritance | 60 Slides + 20 MCQs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Singh Yadav  ·  Dept. CE&amp;A  ·  GLA University, Mathura  ·  BCA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 — Java Inheritance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32688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0241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408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· IS-A · method overriding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67128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" y="2048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Inheritance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432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A→B→C chain · constructor order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91256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9125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Inheritance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3456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parent, multiple children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215384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1538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4096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Keyword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object · constructor chaining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32688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43000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4300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10241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Keyword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58968" y="1408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access · super() · super.method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56816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67128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6712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58968" y="2048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Members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2432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vars, methods &amp; static blocks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80944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191256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9125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8968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Keyword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58968" y="3456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· prevent override · prevent extend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005072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EDF7E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215384"/>
            <a:ext cx="475488" cy="457200"/>
          </a:xfrm>
          <a:prstGeom prst="roundRect">
            <a:avLst>
              <a:gd name="adj" fmla="val 4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21538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58968" y="4096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58968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 (slides 41-60)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Inheritance?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4526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allows a child class to acquire
properties and behaviors of a parent class.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Reusability — avoid re-writing code
•  Method Overriding — runtime polymorphism
•  Extensibility — build upon existing code
•  IS-A Relationship — Dog IS-A Animal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
</a:t>
            </a:r>
            <a:r>
              <a:rPr lang="en-US" sz="12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extends Parent { ... 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914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Inheritance Types in Java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4264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Single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extends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37744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4323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Multilevel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→ 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3832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34381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Hierarchical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B, A → 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443484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4434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⚠  Multiple inheritance via classes is NOT allowed in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Inheritance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Child extends Parent  ·  IS-A Relationship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 —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inherits from exactly 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class.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This is the simplest form of inheritance.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 </a:t>
            </a: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keyword
•  Child inherits public &amp; protected members
•  private members are NOT inherited
•  Child can add its own methods/fields
•  Child can override parent methods
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</a:rPr>
              <a:t>Inheritance Diagram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4173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4173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Animal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(Parent Class)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2514600"/>
            <a:ext cx="0" cy="6400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306324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578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9488"/>
                </a:solidFill>
              </a:rPr>
              <a:t>extends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29184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(Child Class)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06070"/>
                </a:solidFill>
              </a:rPr>
              <a:t>+ bark()  +  name  +  eat()  +  breathe()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 — Syntax &amp;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0" cy="3977640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005840"/>
            <a:ext cx="477316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Parent (Super) Class 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          // instance variable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eat()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" is eating");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breathe()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" is breathing");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Child (Sub) Class 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    // 'extends' keyword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bark()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" says: Woof! Woof!");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Syntax Rules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32588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ChildName extends ParentName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additional members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2402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</a:rPr>
              <a:t>What is Inherited?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670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fields &amp; methods
✓  protected fields &amp; methods
</a:t>
            </a: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private members
✗  constructors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520440"/>
            <a:ext cx="3383280" cy="1298448"/>
          </a:xfrm>
          <a:prstGeom prst="roundRect">
            <a:avLst>
              <a:gd name="adj" fmla="val 5634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Usage 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391363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d = new Dog();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d.name = "Tommy";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d.eat();    // inherited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d.breathe(); // inherited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d.bark();   // own method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 — Complete Code Example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82636"/>
            <a:ext cx="5623560" cy="4860863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432265"/>
            <a:ext cx="5449824" cy="4711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Animal(String name)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System.out.println("Animal constructor: " + name);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eat()     { System.out.println(name + " is eating");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breathe() { System.out.println(name + " is breathing");}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breed;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Dog(String name, String breed)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super(name);          // calls Animal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this.breed = breed;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System.out.println("Dog constructor: " + breed);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bark()   { System.out.println(name + " barks!");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display(){ System.out.println("Breed: " + breed);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Dog d = new Dog("Tommy", "Labrador");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d.eat();       d.breathe();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d.bark();      d.display();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System.out.println(d instanceof Animal); // true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1A2A3A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960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353312"/>
            <a:ext cx="26974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constructor: Tommy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constructor: Labrador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Tommy is eating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Tommy is breathing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Tommy barks!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Breed: Labrador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999232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30449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401568"/>
            <a:ext cx="26974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super(name)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parent
   constructor
</a:t>
            </a: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 instanceof Animal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 returns true (IS-A)
•  Parent constructor runs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BEFORE child constructor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 Relationship &amp; Method Overriding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B"/>
                </a:solidFill>
              </a:rPr>
              <a:t>IS-A Relationship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Dog IS-A Animal  →  valid
</a:t>
            </a: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Animal IS-A Dog  →  INVALID
</a:t>
            </a: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instanceof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operator checks IS-A
•  Enables polymorphism:
</a:t>
            </a: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Animal a = new Dog();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</a:rPr>
              <a:t>@Override — Method Overriding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9359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Child re-defines parent method
•  Same name, same parameters
•  </a:t>
            </a: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annotation recommended
•  Enables runtime polymorphism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343400" cy="3904488"/>
          </a:xfrm>
          <a:prstGeom prst="roundRect">
            <a:avLst>
              <a:gd name="adj" fmla="val 163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005840"/>
            <a:ext cx="4087368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sound()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System.out.println("Animal makes sound");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sound() {        // overrides parent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System.out.println("Dog says: Woof!");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Polymorphism: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new Dog(); // upcasting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a.sound();  // → Dog says: Woof!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// (runtime binding)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 — Advantages &amp; Limitations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61288"/>
            <a:ext cx="438912" cy="457200"/>
          </a:xfrm>
          <a:prstGeom prst="roundRect">
            <a:avLst>
              <a:gd name="adj" fmla="val 41667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05156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Code Reusability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4356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 in parent, use in all child classes. Reduces duplication.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67128"/>
            <a:ext cx="438912" cy="457200"/>
          </a:xfrm>
          <a:prstGeom prst="roundRect">
            <a:avLst>
              <a:gd name="adj" fmla="val 41667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6712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0574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Extensibility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4414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features in child without modifying parent.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72968"/>
            <a:ext cx="438912" cy="457200"/>
          </a:xfrm>
          <a:prstGeom prst="roundRect">
            <a:avLst>
              <a:gd name="adj" fmla="val 41667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7296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306324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Polymorphism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4472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reference holds child object — runtime dispatch.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178808"/>
            <a:ext cx="438912" cy="457200"/>
          </a:xfrm>
          <a:prstGeom prst="roundRect">
            <a:avLst>
              <a:gd name="adj" fmla="val 41667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7880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40690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Method Overriding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45312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inherited behavior for specific needs.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960120"/>
            <a:ext cx="3291840" cy="4169664"/>
          </a:xfrm>
          <a:prstGeom prst="roundRect">
            <a:avLst>
              <a:gd name="adj" fmla="val 2222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0241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14447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Tight coupling between parent and child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19476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Changes in parent may break child classes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450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ONE parent allowed per class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9535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inherit constructors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456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private members not accessible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959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 lead to fragile base class problem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Multilevel Inheritance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  ·  Chain of classes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Inheritance — Concept &amp;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derived from a class that is
already derived from another class.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Chain:
</a:t>
            </a:r>
            <a:r>
              <a:rPr lang="en-US" sz="13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GrandParent → Parent → Child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have any number of levels
•  Each class extends exactly one class
•  Bottom class has access to all
   ancestor members
•  Constructors called top-down
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(GrandParent → Parent → Child)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9784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</a:rPr>
              <a:t>Inheritance Chain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444752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4447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GrandParent (Level 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2130552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23317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579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9488"/>
                </a:solidFill>
              </a:rPr>
              <a:t>extends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404872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4048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Parent (Level 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3090672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0528" y="329184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1181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9488"/>
                </a:solidFill>
              </a:rPr>
              <a:t>extends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64992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36499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Child (Level 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6070"/>
                </a:solidFill>
              </a:rPr>
              <a:t>Child has access to ALL members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06070"/>
                </a:solidFill>
              </a:rPr>
              <a:t>from both levels above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85"/>
            <a:ext cx="8412480" cy="17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Inheritance — Code Example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82634"/>
            <a:ext cx="5760720" cy="4860866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282633"/>
            <a:ext cx="5632704" cy="4824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GrandParent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GrandParent() { System.out.println("GrandParent()");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show()   { System.out.println("GrandParent: show()");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extends GrandParent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super();   // calls GrandParent()  [implicit if omitted]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System.out.println("Parent()");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{ System.out.println("Parent: display()");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extends Parent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super();   // calls Parent()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System.out.println("Child()");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print() { System.out.println("Child: print()");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 c = new Child();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c.show();     // from GrandParent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c.display();  // from Parent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c.print();    // own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1A2A3A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9601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344168"/>
            <a:ext cx="2697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GrandParent()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GrandParent: show()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 display()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Child: print()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834640"/>
            <a:ext cx="2880360" cy="2075688"/>
          </a:xfrm>
          <a:prstGeom prst="roundRect">
            <a:avLst>
              <a:gd name="adj" fmla="val 3524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28803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Constructor Order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264408"/>
            <a:ext cx="26974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top-down: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GrandParent()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Parent()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Child()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super() 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written, default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constructor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called implicitly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— Constructor Call Order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86385"/>
            <a:ext cx="8412480" cy="804669"/>
          </a:xfrm>
          <a:prstGeom prst="roundRect">
            <a:avLst>
              <a:gd name="adj" fmla="val 4848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45233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Rule: When a child class object is created, constructors are called from TOP to BOTTOM.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7525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</a:rPr>
              <a:t>super() (explicit or implicit) in each constructor chains the call upward. JVM starts at the topmost parent.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4691" y="1719069"/>
            <a:ext cx="4721629" cy="3236979"/>
          </a:xfrm>
          <a:prstGeom prst="roundRect">
            <a:avLst>
              <a:gd name="adj" fmla="val 2672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818" y="1764789"/>
            <a:ext cx="4510486" cy="30998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A() { System.out.println("A constructor");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A(String s) { System.out.println("A(String): "+s);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extends A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B() { super("Hello"); System.out.println("B constructor");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 extends B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C() { super(); System.out.println("C constructor");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C() prints: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A(String): Hello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 constructor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0" y="2560320"/>
            <a:ext cx="3749040" cy="2395728"/>
          </a:xfrm>
          <a:prstGeom prst="roundRect">
            <a:avLst>
              <a:gd name="adj" fmla="val 3053"/>
            </a:avLst>
          </a:prstGeom>
          <a:solidFill>
            <a:srgbClr val="F0F9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2624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</a:rPr>
              <a:t>Call Stack (new C())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0" y="3063240"/>
            <a:ext cx="347472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30632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C() — calls super()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3447288"/>
            <a:ext cx="3474720" cy="329184"/>
          </a:xfrm>
          <a:prstGeom prst="roundRect">
            <a:avLst>
              <a:gd name="adj" fmla="val 13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4472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B() — calls super("Hello")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3831336"/>
            <a:ext cx="3474720" cy="329184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8313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A(String) — prints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4215384"/>
            <a:ext cx="3474720" cy="329184"/>
          </a:xfrm>
          <a:prstGeom prst="roundRect">
            <a:avLst>
              <a:gd name="adj" fmla="val 13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42153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B() — continues → prints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4599432"/>
            <a:ext cx="347472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45994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C() — continues → prints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8701" y="640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— </a:t>
            </a:r>
            <a:b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004" y="0"/>
            <a:ext cx="5719156" cy="5143500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004" y="0"/>
            <a:ext cx="559114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Real-World: Vehicle → Car → </a:t>
            </a:r>
            <a:r>
              <a:rPr lang="en-US" sz="1050" dirty="0" err="1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ElectricCar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Vehicle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brand;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maxSpeed;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Vehicle(String b, int s) { brand=b; maxSpeed=s;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describe()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System.out.println(brand+" | Max: "+maxSpeed+" km/h");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extends Vehicle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doors;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Car(String b, int s, int 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super(b, s);   // Vehicle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doors = 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describe();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System.out.println("Doors: " + doors);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ElectricCar extends Car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batteryRange;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ElectricCar(String b,int s,int d,int r){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super(b,s,d);   // Car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batteryRange = r;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showAll()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System.out.println("Battery Range: "+batteryRange+" km");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914400"/>
            <a:ext cx="2788920" cy="3977640"/>
          </a:xfrm>
          <a:prstGeom prst="roundRect">
            <a:avLst>
              <a:gd name="adj" fmla="val 2540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9601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</a:rPr>
              <a:t>Inheritance Tree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389888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3898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Vehicle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(Level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2029968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395728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3957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(Level 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3035808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3401568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4015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ElectricCar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(Level 3)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Inheritance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class — multiple child classes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Inheritance — Concept &amp;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child classes inherit from the
same parent class.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
</a:t>
            </a: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extends A
class C extends A
class D extends A
</a:t>
            </a:r>
            <a:r>
              <a:rPr lang="en-US" sz="1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children share parent's code
•  Each child can add unique behavior
•  Parent class is reused maximally
•  Common in frameworks &amp; APIs
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(Exception hierarchy in Java)
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0F9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9784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</a:rPr>
              <a:t>Hierarchical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444752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4447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Shape (Parent)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6537960" y="2130551"/>
            <a:ext cx="91440" cy="470911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2542032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862072"/>
            <a:ext cx="1097280" cy="566928"/>
          </a:xfrm>
          <a:prstGeom prst="roundRect">
            <a:avLst>
              <a:gd name="adj" fmla="val 1129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8620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5166360" y="2130552"/>
            <a:ext cx="1463040" cy="411475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542032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2862072"/>
            <a:ext cx="1097280" cy="566928"/>
          </a:xfrm>
          <a:prstGeom prst="roundRect">
            <a:avLst>
              <a:gd name="adj" fmla="val 1129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8620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Rectangle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2130552"/>
            <a:ext cx="1280154" cy="411467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2542032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862072"/>
            <a:ext cx="1097280" cy="566928"/>
          </a:xfrm>
          <a:prstGeom prst="roundRect">
            <a:avLst>
              <a:gd name="adj" fmla="val 1129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8620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Triangle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"/>
            <a:ext cx="8412480" cy="23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Inheritance — Code Example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501" y="251458"/>
            <a:ext cx="5453149" cy="4892042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316" y="251458"/>
            <a:ext cx="5125628" cy="4892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Shape {                // Parent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color;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Shape(String c) { color = c;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draw()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System.out.println("Drawing a " + color + " shape");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area() { return 0.0;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 extends Shape { // Child 1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radius;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Circle(String c, double r) { super(c); radius = r;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double area()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Math.PI * radius * radius;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Rectangle extends Shape { // Child 2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length, width;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Rectangle(String c,double l,double w)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super(c); length=l; width=w;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double area() { return length * width;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Triangle extends Shape { // Child 3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base, height;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Triangle(String c,double b,double h)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super(c); base=b; height=h;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double area() { return 0.5 * base * height;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0" y="251458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29717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</a:rPr>
              <a:t>Usage &amp;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681226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c = new Circle("Red", 5.0);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r =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Rectangle("Blue",4,3);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Triangle t =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Triangle("Green",6,4);</a:t>
            </a:r>
            <a:endParaRPr lang="en-US" sz="1000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c.draw();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System.out.println(c.area());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r.draw();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System.out.println(r.area());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t.draw();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System.out.println(t.area());</a:t>
            </a:r>
            <a:endParaRPr lang="en-US" sz="1000" b="1" dirty="0"/>
          </a:p>
        </p:txBody>
      </p:sp>
      <p:sp>
        <p:nvSpPr>
          <p:cNvPr id="9" name="Shape 7"/>
          <p:cNvSpPr/>
          <p:nvPr/>
        </p:nvSpPr>
        <p:spPr>
          <a:xfrm>
            <a:off x="5943600" y="2967226"/>
            <a:ext cx="2926080" cy="0"/>
          </a:xfrm>
          <a:prstGeom prst="line">
            <a:avLst/>
          </a:prstGeom>
          <a:noFill/>
          <a:ln w="1016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99465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</a:rPr>
              <a:t>Output: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268978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Drawing a Red shape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78.54...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Drawing a Blue shape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Drawing a Green shape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Types — Comparison 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124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Parents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(shared)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Dog→Animal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Child→Parent→GP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Circle,Rect→Shape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IS-A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relationships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base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Keyword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object reference  ·  Constructor chaining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Keyword — Introduction &amp; Uses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24712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2471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06070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Refer to current class instance variable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80760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this.name = name;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947672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4767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188366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Call current class method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1920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this.display();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770632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77063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70662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Constructor chaining — this()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743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this(name, 18);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3593592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9359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352958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Pass current object as argument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5661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show(this);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4416552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41655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435254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Return current class instance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4389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this;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4"/>
            <a:ext cx="8412480" cy="17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Resolving Naming Conflict &amp; Calling Methods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004" y="429766"/>
            <a:ext cx="5353396" cy="4640580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7012" y="521206"/>
            <a:ext cx="5225380" cy="4549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    // instance variable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rollNo;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Constructor - parameter names same as fields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Student(String name, int rollNo)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  = name;    // this.name = instance variable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this.rollNo = rollNo;  // rollNo    = parameter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this.validate();       // call current class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validate()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if(rollNo &lt;= 0) rollNo = 1001;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System.out.println("Validated: "+rollNo);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System.out.println("Name: " + this.name);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System.out.println("Roll: " + this.rollNo);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 getStudent()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this;           // return current object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9692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Without this: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353312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Student(String name){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name; // BUG!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assigns param to param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field stays null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2907792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29626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</a:rPr>
              <a:t>With this: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346704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Student(String name){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this.name = name; //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field = parameter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correct assignment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6603"/>
            <a:ext cx="8412480" cy="27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 — Constructor Chaining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352044"/>
            <a:ext cx="8412480" cy="357448"/>
          </a:xfrm>
          <a:prstGeom prst="roundRect">
            <a:avLst>
              <a:gd name="adj" fmla="val 7843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52044"/>
            <a:ext cx="8229600" cy="357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⚠  IMPORTANT RULE:  this()  must be the FIRST statement in a constructor. You cannot use both this() and super() in the same constructor.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9753" y="758951"/>
            <a:ext cx="5752407" cy="4278561"/>
          </a:xfrm>
          <a:prstGeom prst="roundRect">
            <a:avLst>
              <a:gd name="adj" fmla="val 2154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58953"/>
            <a:ext cx="5495544" cy="4133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holder;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balance;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accountType;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</a:t>
            </a:r>
            <a:r>
              <a:rPr lang="en-US" sz="1050" dirty="0" err="1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interestRate</a:t>
            </a: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BankAccount(String h, double b, String t, double 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holder       = h;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balance      = b;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accountType  = 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interestRate = r;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BankAccount(String h, double b)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this(h, b, "Savings", 4.5); // ← must be FIRST statement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BankAccount(String h)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this(h, 0.0);               // chains to above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System.out.println(holder+" | "+accountType+" | "+balance);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BankAccount("Ravi").show();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Ravi | Savings | 0.0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F0F9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97510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6B"/>
                </a:solidFill>
              </a:rPr>
              <a:t>Chain Execution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23774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BankAccount("Ravi")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788920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78892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BankAccount(h)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this(h,0.0)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4290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BankAccount(h,b)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this(h,b,T,R)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4069080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406908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BankAccount(h,b,t,r)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 all fields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295310"/>
            <a:ext cx="2926080" cy="22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Passing as Argument &amp; Returning Instance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502" y="45725"/>
            <a:ext cx="5648498" cy="5097774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942" y="45725"/>
            <a:ext cx="5429042" cy="5052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Printer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printInfo(Student 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System.out.println("Name: " + </a:t>
            </a:r>
            <a:r>
              <a:rPr lang="en-US" sz="1050" dirty="0" err="1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s.name</a:t>
            </a: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Student(String name) { this.name = name;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Pass 'this' as method argument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sendToPrinter(Printer p)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p.printInfo(this);      // passes current Student object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Return 'this' — enables Method Chaining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 setName(String n)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this;           // returns current object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 validate()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if(name==null) name="Unknown";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Student s = new Student("Arun");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Printer p = new Printer();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s.sendToPrinter(p);        // this as argument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Method Chaining using return this: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s.setName("Ravi").validate();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</a:rPr>
              <a:t>Method Chaining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34416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Pattern using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this: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Student()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.setName("Ravi")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.validate();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2953512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29992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Summary of this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383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this.field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 ambiguity
</a:t>
            </a: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this.method()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call current
</a:t>
            </a: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this()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constructor chain
</a:t>
            </a: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return this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method chain
</a:t>
            </a:r>
            <a:r>
              <a:rPr lang="en-US" sz="11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this in static </a:t>
            </a: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Keyword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class access  ·  Constructor &amp; Method calls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Keyword — Introduction &amp; Uses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88720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8872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Call parent class constructor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15214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super() or super(args)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2148840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4884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2057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Access parent class method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1122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super.methodName()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3108960"/>
            <a:ext cx="411480" cy="438912"/>
          </a:xfrm>
          <a:prstGeom prst="roundRect">
            <a:avLst>
              <a:gd name="adj" fmla="val 44444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0896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30175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Access parent class variable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7238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super.fieldName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977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</a:rPr>
              <a:t>✅  super vs this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 → parent class   |   this → current class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931920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3977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⚠  Important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4343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</a:rPr>
              <a:t>•  super() must be FIRST in constructor    •  Cannot use super in static method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-58183"/>
            <a:ext cx="8412480" cy="30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— Calling Parent Class Constructor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51456"/>
            <a:ext cx="6143104" cy="4640584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49135"/>
            <a:ext cx="6051664" cy="4451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Person(String name, int age)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this.age  = age;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System.out.println("Person: " + name + ", " + 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System.out.println("Name: "+name+" | Age: "+age);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 extends Person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company;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salary;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Employee(String name, int age, String company, double salary)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super(name, age);         // MUST be first statement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this.company = company;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this.salary  = salary;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System.out.println("Employee: "+company);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showDetails()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super.display();          // calls Person's display()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System.out.println("Company: "+company+" Salary: "+salary);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Employee("Arun",35,"GLA",75000).showDetails();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17424" y="914400"/>
            <a:ext cx="2452255" cy="2148839"/>
          </a:xfrm>
          <a:prstGeom prst="roundRect">
            <a:avLst>
              <a:gd name="adj" fmla="val 3404"/>
            </a:avLst>
          </a:prstGeom>
          <a:solidFill>
            <a:srgbClr val="1A2A3A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70234" y="969264"/>
            <a:ext cx="230800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70234" y="1353312"/>
            <a:ext cx="2308005" cy="1600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Person: Arun, 35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Employee: GLA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Arun | Age: 35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Company: GLA Salary: 75000.0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70234" y="3099815"/>
            <a:ext cx="2399446" cy="1819657"/>
          </a:xfrm>
          <a:prstGeom prst="roundRect">
            <a:avLst>
              <a:gd name="adj" fmla="val 4103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938" y="3193272"/>
            <a:ext cx="2258302" cy="35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Rules for super()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938" y="3559125"/>
            <a:ext cx="2258302" cy="1259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Must be FIRST statement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be used with this()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same constructor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omitted, super() 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inserted implicitly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use in static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5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super.method() &amp; super.variable — Accessing Parent Members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324613"/>
            <a:ext cx="6244872" cy="4567427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1193" y="399011"/>
            <a:ext cx="6084915" cy="44015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color = "White";  // parent variable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eat()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System.out.println("Animal is eating generic food");}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breathe()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System.out.println("Animal breathes");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color = "Black";  // shadows parent variable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eat()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super.eat();          // calls Animal's eat()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System.out.println("Dog is eating dog food");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showColors()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System.out.println("Dog color:    " + color);        // this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System.out.println("Animal color: " + super.color);  // parent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activities()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eat();             // Dog's overridden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super.breathe();   // directly call parent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showColors();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0" y="850393"/>
            <a:ext cx="2194560" cy="1892807"/>
          </a:xfrm>
          <a:prstGeom prst="roundRect">
            <a:avLst>
              <a:gd name="adj" fmla="val 4000"/>
            </a:avLst>
          </a:prstGeom>
          <a:solidFill>
            <a:srgbClr val="1A2A3A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16684" y="957103"/>
            <a:ext cx="2061556" cy="3596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16684" y="1307867"/>
            <a:ext cx="2061556" cy="134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is eating generic food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is eating dog food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breathes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color:    Black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color: White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67548" y="2743200"/>
            <a:ext cx="2502131" cy="2176272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7752" y="2858494"/>
            <a:ext cx="2350487" cy="378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</a:rPr>
              <a:t>When to use super?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7752" y="3221073"/>
            <a:ext cx="2350487" cy="15612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Variable shadowing </a:t>
            </a: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name in parent and child)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Calling overridden </a:t>
            </a: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method
   from child
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Reusing parent constructor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logic in child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vs this — Complete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51129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class 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class 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this() — same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super() — parent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this.fieldName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super.fieldName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this.methodName()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super.methodName()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in constructor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static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each 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use both in 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use both in 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Members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variables, methods &amp; static blocks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Variable — Class-Level Shared Memory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481328"/>
          </a:xfrm>
          <a:prstGeom prst="roundRect">
            <a:avLst>
              <a:gd name="adj" fmla="val 4938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static variable (Class Variable)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Belongs to the CLASS, not to any object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copy shared by ALL objects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Accessed as:  ClassName.variableName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5029200" cy="2404872"/>
          </a:xfrm>
          <a:prstGeom prst="roundRect">
            <a:avLst>
              <a:gd name="adj" fmla="val 2662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578608"/>
            <a:ext cx="4773168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count = 0;    // ONE shared copy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Counter(String name)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count++;             // every object increments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showCount()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System.out.println("Total: " + count);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System.out.println(name); // ✗ ERROR - no instance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c1 = new Counter("A");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c2 = new Counter("B");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c3 = new Counter("C");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Counter.showCount();   // Total: 3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System.out.println(Counter.count); //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0F9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6B"/>
                </a:solidFill>
              </a:rPr>
              <a:t>Memory Layout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371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 Area: count =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01168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c1: name =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65176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c2: name =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29184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29184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c3: name =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40416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6070"/>
                </a:solidFill>
              </a:rPr>
              <a:t>All objects share ONE 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06070"/>
                </a:solidFill>
              </a:rPr>
              <a:t>Instance vars (name) are separate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2581"/>
            <a:ext cx="8412480" cy="22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 — Class-Level Method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78" y="342900"/>
            <a:ext cx="5598622" cy="4549140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42900"/>
            <a:ext cx="5312664" cy="4457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MathUtils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final double PI = 3.14159265;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static method - no object needed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double circleArea(double radius)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PI * radius * radius;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double fahrenheitToCelsius(double f)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(f - 32) * 5.0 / 9.0;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static can call static, but NOT instance methods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info()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System.out.println("PI = " + PI);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display(); // ✗ ERROR — instance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Call without creating object!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area = MathUtils.circleArea(5.0);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System.out.println("Area: " + area);         // 78.53...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c = MathUtils.fahrenheitToCelsius(98.6);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System.out.println("Celsius: " + c);         // 37.0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MathUtils.info();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3017520" cy="1627632"/>
          </a:xfrm>
          <a:prstGeom prst="roundRect">
            <a:avLst>
              <a:gd name="adj" fmla="val 4494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969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</a:rPr>
              <a:t>static Method 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35331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Called on class name
✓  Can access static vars
</a:t>
            </a: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access this/super
✗  Cannot access instance vars
✗  Cannot call instance methods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2624328"/>
            <a:ext cx="3017520" cy="2267712"/>
          </a:xfrm>
          <a:prstGeom prst="roundRect">
            <a:avLst>
              <a:gd name="adj" fmla="val 3226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2679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Method Hiding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06324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methods are NOT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overridden — they are HIDDEN: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void show() 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extends A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void show() 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Method hiding,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NOT overriding!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49055"/>
            <a:ext cx="4206240" cy="28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 — Class Initialization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1069" y="322542"/>
            <a:ext cx="8412480" cy="398585"/>
          </a:xfrm>
          <a:prstGeom prst="roundRect">
            <a:avLst>
              <a:gd name="adj" fmla="val 9091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8229" y="322542"/>
            <a:ext cx="8229600" cy="398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static block executes ONCE — when the class is first loaded into the JVM (before any object is created or any static method is called).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1069" y="795529"/>
            <a:ext cx="5473931" cy="4123944"/>
          </a:xfrm>
          <a:prstGeom prst="roundRect">
            <a:avLst>
              <a:gd name="adj" fmla="val 2071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95523"/>
            <a:ext cx="5312664" cy="4032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DatabaseConfig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String host;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   port;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String </a:t>
            </a:r>
            <a:r>
              <a:rPr lang="en-US" sz="1050" dirty="0" err="1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dbName</a:t>
            </a: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{                           // Static Block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System.out.println("Loading DB config...");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   = "localhost";          // initialization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   = 3306;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dbName = "university_db";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System.out.println("Config loaded: "+host+":"+port);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{                   // Multiple static blocks allowed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System.out.println("Secondary config block");}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DatabaseConfig()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System.out.println("Constructor called");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System.out.println("main() started");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DatabaseConfig d1 = new DatabaseConfig();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DatabaseConfig d2 = new DatabaseConfig();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System.out.println("DB: " + DatabaseConfig.dbName);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828800"/>
            <a:ext cx="3017520" cy="1719072"/>
          </a:xfrm>
          <a:prstGeom prst="roundRect">
            <a:avLst>
              <a:gd name="adj" fmla="val 4255"/>
            </a:avLst>
          </a:prstGeom>
          <a:solidFill>
            <a:srgbClr val="1A2A3A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8928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Output (execution order)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286000"/>
            <a:ext cx="2834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DB config...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loaded: localhost:3306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config block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started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called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called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 university_db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3630168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36850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</a:rPr>
              <a:t>Execution 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4069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static block(s)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static init fields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main() / new Object()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instance block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constructor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 — Key Differences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5112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(Class)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Accessed via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ClassName.member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objectName.member (or this)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static members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members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Counters, utilities, constants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Object-specific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63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Keyword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· Prevent override · Prevent extension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Variable — Constants in Java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</a:rPr>
              <a:t>final variable = constant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assigned, its value CANNOT be changed.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name in UPPER_CASE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5029200" cy="2487168"/>
          </a:xfrm>
          <a:prstGeom prst="roundRect">
            <a:avLst>
              <a:gd name="adj" fmla="val 2574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496312"/>
            <a:ext cx="4773168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PhysicsConstants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double GRAVITY   = 9.8;    // local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final double PI = 3.14159; // class constant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int MAX_SIZE;               // blank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PhysicsConstants(int size)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MAX_SIZE = size;   // blank final: initialize in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demo()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final int x = 100;   // local final variable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x = 200;          // ✗ ERROR: cannot reassign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GRAVITY = 9.81;   // ✗ ERROR: cannot change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System.out.println("G = " + GRAVITY);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System.out.println("PI = " + PI);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System.out.println("MAX = " + MAX_SIZE);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PhysicsConstants pc = new PhysicsConstants(100);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pc.demo();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final accessed as: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System.out.println(PhysicsConstants.PI);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9692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</a:rPr>
              <a:t>Types of final Variables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389888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1435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</a:rPr>
              <a:t>Local final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7556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 method,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before 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1682496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int x=10;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2560320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606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</a:rPr>
              <a:t>Instance final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then init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constructor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2852928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int id;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3730752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EDF7E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37764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</a:rPr>
              <a:t>static final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40965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shared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all (class constant)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 int MAX=100;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 — Preventing Method Override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final method CANNOT be overridden by any subclass. It CAN be inherited and called, but NOT re-defined.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303520" cy="3127248"/>
          </a:xfrm>
          <a:prstGeom prst="roundRect">
            <a:avLst>
              <a:gd name="adj" fmla="val 2047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874520"/>
            <a:ext cx="5047488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balance;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final method — CANNOT be overridden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void deductCharges(double amount)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balance -= amount;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System.out.println("Charge deducted: " + amount);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deposit(double amt) { balance += amt; }  // CAN override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SavingsAccount extends BankAccount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✓ CAN override non-final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deposit(double amt)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super.deposit(amt * 1.05); // adds 5% bonus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✗ CANNOT override final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void deductCharges(double amt) { } // Compile ERROR!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showBalance()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deductCharges(50);   // ✓ Can CALL the inherited final method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3017520" cy="3127248"/>
          </a:xfrm>
          <a:prstGeom prst="roundRect">
            <a:avLst>
              <a:gd name="adj" fmla="val 2424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</a:rPr>
              <a:t>Why final method?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231136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 — prevents
   unauthorized override
✓  Core logic protection
   (banking, cryptography)
✓  Performance — JVM
   can inline final methods
</a:t>
            </a: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
</a:t>
            </a: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private methods 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final (cannot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overridden anyway)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— Preventing Inheritance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final class CANNOT be extended (subclassed). All methods in a final class are implicitly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01368"/>
            <a:ext cx="5349240" cy="3090672"/>
          </a:xfrm>
          <a:prstGeom prst="roundRect">
            <a:avLst>
              <a:gd name="adj" fmla="val 2071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892808"/>
            <a:ext cx="5093208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Valid: final class definition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Immutable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value;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Immutable(int v) { this.value = v;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getValue()   { return value;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✗ ERROR: Cannot extend a final class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ExtendedImmutable extends Immutable { } // COMPILE ERROR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Real-world examples of final classes in Java: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java.lang.String     — String is final!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java.lang.Integer    — Wrapper classes are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java.lang.Math       — Math class is final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cannot be extended: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MyString extends String { }  // ✗ ERROR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final class use case — utility class: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MathHelper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MathHelper() { }  // prevent instantiation too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double square(double x) { return x * x;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double cube(double x)   { return x * x * x;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 MathHelper.square(5.0) → 25.0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801368"/>
            <a:ext cx="3017520" cy="3090672"/>
          </a:xfrm>
          <a:prstGeom prst="roundRect">
            <a:avLst>
              <a:gd name="adj" fmla="val 2424"/>
            </a:avLst>
          </a:prstGeom>
          <a:solidFill>
            <a:srgbClr val="D1FAE5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856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</a:rPr>
              <a:t>When to use final class?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258568"/>
            <a:ext cx="28346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classes
   (cannot be modified)
✓  Security-critical code
   (no override attack)
✓  Utility classes
   (Math, Collections)
✓  When class design
   is complete &amp; final
</a:t>
            </a: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Examples:
</a:t>
            </a: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String, Integer, Double,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Float, Byte, Math,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System, StrictMath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final Variable &amp; static final Constants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349240" cy="3977640"/>
          </a:xfrm>
          <a:prstGeom prst="roundRect">
            <a:avLst>
              <a:gd name="adj" fmla="val 1609"/>
            </a:avLst>
          </a:prstGeom>
          <a:solidFill>
            <a:srgbClr val="1A2A3A"/>
          </a:solidFill>
          <a:ln w="10160">
            <a:solidFill>
              <a:srgbClr val="2D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005840"/>
            <a:ext cx="509320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final double PI = 3.14159265; // static final: compile-time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double radius;                 // blank final: set in 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Circle(double radius)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blank final MUST be initialized in EVERY constructor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this.radius = radius;            // ✓ OK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If we had another constructor, must also set radius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this.radius = 1.0;              // ✓ OK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area()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PI = 4.0;     // ✗ ERROR — cannot change static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radius = 5.0; // ✗ ERROR — cannot reassign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PI * radius * radius;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Difference: static final vs blank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final:  one value for entire class, set at declaration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blank final:   value set per object in constructor (can vary)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c1 = new Circle(5.0);   // radius=5, area=78.54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c2 = new Circle(3.0);   // radius=3, area=28.27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Both share PI = 3.14159265 (static final)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4E8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But each has its own final radius (blank final)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DBEAFE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969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B"/>
                </a:solidFill>
              </a:rPr>
              <a:t>static 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353312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Class-level constant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value for all 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at declaration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Accessed: Class.NAME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Convention: UPPER_CASE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2953512"/>
            <a:ext cx="3017520" cy="1938528"/>
          </a:xfrm>
          <a:prstGeom prst="roundRect">
            <a:avLst>
              <a:gd name="adj" fmla="val 3774"/>
            </a:avLst>
          </a:prstGeom>
          <a:solidFill>
            <a:srgbClr val="FEF9C3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3017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blank final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401568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Instance constant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Value varies per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MUST init in constructor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reassign after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static — per-object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this, super, static, final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77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With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object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static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chaining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FIRST statement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class member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static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constructor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FIRST statement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variable/method/block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Class-level; shared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use this/super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(var)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Constant; cannot reassign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before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(method)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overridden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inherited &amp; called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(class)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extended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methods implicitly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5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Interview Questions &amp; Quick Answers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a class extend multiple classes?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No. Java supports single inheritance for classes. Use interfaces for multiple.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13432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happens if super() is not called?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Default no-arg parent constructor is called implicitly by JVM.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66744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30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Difference: method hiding vs overriding?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696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Static methods are hidden (not overridden). Instance methods are overridden.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24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constructor be static/final?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No. Constructors cannot be static, final, abstract, or synchronized.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313432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static method access instance var?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No. Static methods cannot access instance variables directly (need object).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66744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6350">
            <a:solidFill>
              <a:srgbClr val="C5DCF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30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When does static block execute?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1696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Once, when the class is first loaded by JVM — before main() or any object.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MCQ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9EC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 ·  Java Inheritance, this, super, static, final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shows the correct answer with explanation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FAA"/>
                </a:solidFill>
              </a:rPr>
              <a:t>Java Programming  ·  GLA University, Mathura  ·  BCA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is used to implement inheritance in Java?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Java uses 'extends' keyword to create a subclass: class Dog extends Animal { }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Q2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relationship does inheritance represent?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relationship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USES-A relationship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 relationship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LIKE-A relationship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Inheritance creates an IS-A relationship. A Dog IS-A Animal. Composition creates HAS-A.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Q3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  class A{ A(){out.print("A");}}  class B extends A{ B(){out.print("B");}}  new B();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Parent constructor runs first. JVM calls A() (implicitly via super()) before B(), so output is AB.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Q4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about super() is correct?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called anywhere in constructor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the first statement in constructor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2322576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called multiple times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mandatory in every constructor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super() MUST be the first statement in a constructor. If not written, JVM inserts super() implicitly.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Q5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 constructor call must be: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statement in constructor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statement in constructor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2322576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after super()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in abstract classes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this() must be the FIRST statement in a constructor, just like super(). You cannot use both this() and super() in the same constructor.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Q6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static block execute?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an object is created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when the class is first loaded by JVM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2322576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main() is explicitly called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constructors execute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Static block executes ONCE when the class is first loaded into JVM memory — before object creation or main() call.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Q7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about static methods is TRUE?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access instance variables directly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'this' keyword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overridden by subclass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overridden — they are hidden in subclass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584448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Static methods cannot be overridden. If a subclass defines a static method with the same signature, it is called method HIDING, not overriding.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Q8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final class mean in Java?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instantiated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extended (subclassed)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2322576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its variables are constants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executes only once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final class cannot be extended. Example: java.lang.String is a final class, so you cannot write class MyString extends String.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Q9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parent classes can a Java class directly extend?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two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three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584448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Java supports SINGLE inheritance — a class can extend only ONE class. Multiple inheritance via classes is not allowed (use interfaces instead).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Q10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method hiding in Java?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method as private in child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static method in child with same signature as parent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2322576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final on a parent method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parent method using super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Method hiding occurs when a static method in child class has the same signature as a static method in parent class. Unlike overriding, it's resolved at compile-time.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Q11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CANNOT be declared as static?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584448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Constructors cannot be static. Also, constructors cannot be final, abstract, or synchronized. Static blocks, variables, and methods are valid.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Q12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subclass does NOT call super() explicitly?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automatically inserts call to parent no-arg constructor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object is not created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super() is not explicitly written, JVM automatically inserts a call to the parent's no-argument constructor. If parent has no no-arg constructor, compile error occurs.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Q13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final variable in Java: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initialized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initialized in static block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initialized in every constructor or at declaration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be a static variable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blank final is a final variable declared without initialization. It MUST be initialized in every constructor of the class (or at declaration). This allows per-object constant values.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Q14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'static' variable mean in context of memory?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per method 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per object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for the entire class, shared by all objects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allocation until used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Static variables are class-level — ONE copy shared by ALL objects of that class. Unlike instance variables which have separate copies per object.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Q15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inheritance type does Java NOT directly support via classes?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inheritance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inheritance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inheritance (via classes)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584448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Java does NOT support multiple inheritance via classes (A extends B, C) to avoid the Diamond Problem. It can be achieved through interfaces.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Q16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'this' keyword in a static method: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Class object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allowed only for calling static methods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 compile-time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'this' refers to the current instance. Static methods don't belong to any instance, so 'this' cannot be used in static methods — it causes a compile-time error.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Q17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constructor chaining using this()?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parent class constructor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any other constructor in the SAME 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49640" y="2322576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chain of objects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Re-initializes the object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this() calls another constructor in the SAME class. super() calls the parent constructor. this() must be the first statement and creates a chain within the class.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Q18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true about a final method?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called in subclass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inherited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overridden but CAN be inherited and called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becomes static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final method CAN be inherited and called in subclass — it just CANNOT be overridden (redefined). Private methods are implicitly final but not inherited.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Q19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  class A{static{out.print("A");}}  class B extends A{static{out.print("B");}}  B b=new B();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Static blocks execute when class is loaded, top-down. Class A loads first (parent), so 'A' prints, then class B loads and 'B' prints. Output: AB.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1280160" cy="438912"/>
          </a:xfrm>
          <a:prstGeom prst="roundRect">
            <a:avLst>
              <a:gd name="adj" fmla="val 1458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Q20 /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37360" y="182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Assessment  ·  Java Inheritance, this, super, static, final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76656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E1456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766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correctly uses super keyword?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super(args) can be called from any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super.variable can only be used in constructors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0F3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super(args) calls parent class constructor from child constructor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2953512"/>
            <a:ext cx="256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1E1B4B"/>
          </a:solidFill>
          <a:ln w="889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= this in same class context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667512"/>
          </a:xfrm>
          <a:prstGeom prst="roundRect">
            <a:avLst>
              <a:gd name="adj" fmla="val 8219"/>
            </a:avLst>
          </a:prstGeom>
          <a:solidFill>
            <a:srgbClr val="1C1B3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super(args) is used in child class constructor to explicitly call a specific parent constructor. super.method() and super.variable are used to access parent class members.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7597</Words>
  <Application>Microsoft Macintosh PowerPoint</Application>
  <PresentationFormat>On-screen Show (16:9)</PresentationFormat>
  <Paragraphs>1215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Inheritance – this, super, static, final</dc:title>
  <dc:subject>PptxGenJS Presentation</dc:subject>
  <dc:creator>Dr. Arun Singh Yadav, GLA University</dc:creator>
  <cp:lastModifiedBy>Microsoft Office User</cp:lastModifiedBy>
  <cp:revision>12</cp:revision>
  <dcterms:created xsi:type="dcterms:W3CDTF">2026-06-09T08:12:19Z</dcterms:created>
  <dcterms:modified xsi:type="dcterms:W3CDTF">2026-06-17T08:25:55Z</dcterms:modified>
</cp:coreProperties>
</file>